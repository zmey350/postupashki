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d56ab1ac6d4ca1" /><Relationship Type="http://schemas.openxmlformats.org/officeDocument/2006/relationships/extended-properties" Target="/docProps/app.xml" Id="R6233bd137aff4c4f" /><Relationship Type="http://schemas.openxmlformats.org/officeDocument/2006/relationships/officeDocument" Target="/ppt/presentation.xml" Id="Rec09ffd9388b40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7bc5c197a84ac3"/>
  </p:sldMasterIdLst>
  <p:notesMasterIdLst>
    <p:notesMasterId xmlns:r="http://schemas.openxmlformats.org/officeDocument/2006/relationships" r:id="R3e061d7080a74961"/>
  </p:notesMasterIdLst>
  <p:sldIdLst>
    <p:sldId xmlns:r="http://schemas.openxmlformats.org/officeDocument/2006/relationships" id="256" r:id="Rfb969f26b5f845c0"/>
    <p:sldId xmlns:r="http://schemas.openxmlformats.org/officeDocument/2006/relationships" id="257" r:id="Ra3d09a6b7bd54f28"/>
    <p:sldId xmlns:r="http://schemas.openxmlformats.org/officeDocument/2006/relationships" id="258" r:id="Rb4b0f331ed73468f"/>
    <p:sldId xmlns:r="http://schemas.openxmlformats.org/officeDocument/2006/relationships" id="259" r:id="Rab879272498c4d32"/>
    <p:sldId xmlns:r="http://schemas.openxmlformats.org/officeDocument/2006/relationships" id="260" r:id="Ra7ed959861b04e9e"/>
    <p:sldId xmlns:r="http://schemas.openxmlformats.org/officeDocument/2006/relationships" id="261" r:id="R5e4dc3ff419e4a7a"/>
    <p:sldId xmlns:r="http://schemas.openxmlformats.org/officeDocument/2006/relationships" id="262" r:id="R412f022495f0421a"/>
    <p:sldId xmlns:r="http://schemas.openxmlformats.org/officeDocument/2006/relationships" id="263" r:id="R507c2b4c5aa746c8"/>
    <p:sldId xmlns:r="http://schemas.openxmlformats.org/officeDocument/2006/relationships" id="264" r:id="R8bdb9cd54ee24c13"/>
    <p:sldId xmlns:r="http://schemas.openxmlformats.org/officeDocument/2006/relationships" id="265" r:id="R0e2af3e6de6841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55e8fa93c24f87" /><Relationship Type="http://schemas.openxmlformats.org/officeDocument/2006/relationships/slideMaster" Target="/ppt/slideMasters/slideMaster1.xml" Id="Rdd7bc5c197a84ac3" /><Relationship Type="http://schemas.openxmlformats.org/officeDocument/2006/relationships/notesMaster" Target="/ppt/notesMasters/notesMaster1.xml" Id="R3e061d7080a74961" /><Relationship Type="http://schemas.openxmlformats.org/officeDocument/2006/relationships/presProps" Target="/ppt/presProps.xml" Id="R7ee4cca86ac147b7" /><Relationship Type="http://schemas.openxmlformats.org/officeDocument/2006/relationships/tableStyles" Target="/ppt/tableStyles.xml" Id="Redac24752a734f25" /><Relationship Type="http://schemas.openxmlformats.org/officeDocument/2006/relationships/slide" Target="/ppt/slides/slide1.xml" Id="Rfb969f26b5f845c0" /><Relationship Type="http://schemas.openxmlformats.org/officeDocument/2006/relationships/slide" Target="/ppt/slides/slide2.xml" Id="Ra3d09a6b7bd54f28" /><Relationship Type="http://schemas.openxmlformats.org/officeDocument/2006/relationships/slide" Target="/ppt/slides/slide3.xml" Id="Rb4b0f331ed73468f" /><Relationship Type="http://schemas.openxmlformats.org/officeDocument/2006/relationships/slide" Target="/ppt/slides/slide4.xml" Id="Rab879272498c4d32" /><Relationship Type="http://schemas.openxmlformats.org/officeDocument/2006/relationships/slide" Target="/ppt/slides/slide5.xml" Id="Ra7ed959861b04e9e" /><Relationship Type="http://schemas.openxmlformats.org/officeDocument/2006/relationships/slide" Target="/ppt/slides/slide6.xml" Id="R5e4dc3ff419e4a7a" /><Relationship Type="http://schemas.openxmlformats.org/officeDocument/2006/relationships/slide" Target="/ppt/slides/slide7.xml" Id="R412f022495f0421a" /><Relationship Type="http://schemas.openxmlformats.org/officeDocument/2006/relationships/slide" Target="/ppt/slides/slide8.xml" Id="R507c2b4c5aa746c8" /><Relationship Type="http://schemas.openxmlformats.org/officeDocument/2006/relationships/slide" Target="/ppt/slides/slide9.xml" Id="R8bdb9cd54ee24c13" /><Relationship Type="http://schemas.openxmlformats.org/officeDocument/2006/relationships/slide" Target="/ppt/slides/slide10.xml" Id="R0e2af3e6de6841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863613ef7141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d872a05cf64f28" /><Relationship Type="http://schemas.openxmlformats.org/officeDocument/2006/relationships/notesMaster" Target="/ppt/notesMasters/notesMaster1.xml" Id="R47b8b377db1a45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0879481b6c4b2c" /><Relationship Type="http://schemas.openxmlformats.org/officeDocument/2006/relationships/notesMaster" Target="/ppt/notesMasters/notesMaster1.xml" Id="R5a860a56fe4947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6f03e09b514d82" /><Relationship Type="http://schemas.openxmlformats.org/officeDocument/2006/relationships/notesMaster" Target="/ppt/notesMasters/notesMaster1.xml" Id="R3218b71ced0547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c434d1ee934e52" /><Relationship Type="http://schemas.openxmlformats.org/officeDocument/2006/relationships/notesMaster" Target="/ppt/notesMasters/notesMaster1.xml" Id="R0410a8308a904a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a2d5c4fa724ac8" /><Relationship Type="http://schemas.openxmlformats.org/officeDocument/2006/relationships/notesMaster" Target="/ppt/notesMasters/notesMaster1.xml" Id="Rca261a200a2d40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b7c5b0f59d4e59" /><Relationship Type="http://schemas.openxmlformats.org/officeDocument/2006/relationships/notesMaster" Target="/ppt/notesMasters/notesMaster1.xml" Id="R0a80df69b3a64f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6007c1ea0545eb" /><Relationship Type="http://schemas.openxmlformats.org/officeDocument/2006/relationships/notesMaster" Target="/ppt/notesMasters/notesMaster1.xml" Id="Rf3465c90b75d46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e52c88bb9248c3" /><Relationship Type="http://schemas.openxmlformats.org/officeDocument/2006/relationships/notesMaster" Target="/ppt/notesMasters/notesMaster1.xml" Id="R5d936f84b4694b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fa9a723f744e15" /><Relationship Type="http://schemas.openxmlformats.org/officeDocument/2006/relationships/notesMaster" Target="/ppt/notesMasters/notesMaster1.xml" Id="Rac119974786a4f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b1175d9aae4f35" /><Relationship Type="http://schemas.openxmlformats.org/officeDocument/2006/relationships/notesMaster" Target="/ppt/notesMasters/notesMaster1.xml" Id="R8f03f3b8e39f42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хакатона Поступашки. Бюджет 300000 рублей дан условием. Состояние проекта и проверки: финальная инвентаризация, сентябрь 2026. Код и аналитика не доказывают причинную окупаемость рекламы.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исходный CSV организатора вместо недоступного оригинального base.xlsx. Проверенный пересчёт audit/real_sales/summary.json и tables/daily.csv. 38 дней 04.08–10.09.2026. amount_rub=5904671.67, orders=628, buyers=606, bundles=153, bundle_sales_share=0.3588739761, repeat_buyers=20. Граничные дни приняты полными по ранее утвержденному допущению. Часовой пояс исходника неизвестен.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Уровни знания требуются кейсом и инструкциями к сдаче. Аналитика/вычисления: реализовано и проверено. Клиентская ML оценка и сбор: реализовано частично, демо. Измерение инкрементального эффекта: только спроектировано. Строго не смешивать неизвестный канал с нулевым рекламным эффектом.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Статусы соответствуют инвентаризации. Демонстрация с синтетическими событиями не является боевым внедрением. Общая БД v2 и самостоятельный пакет ML. Исторический CSV анализируется отдельно: связь псевдонимов исходной выгрузки с новыми Telegram ID не настроена.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изображения: HTML-снимок настоящего интерфейса, audit/screenshots/overview.png, на синтетических данных. DOM сформирован реальными функциями приложения и данными HTTP, далее статический HTML отрисован для иллюстрации. Это не скриншот браузера. Полная визуальная проверка в браузере недоступна из-за отсутствия Chromium. Без персональных данных. Полнота производственного сбора не подтверждена.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Проверенный Telegram Bot API collector использует стандартную библиотеку Python. Live запуск отсутствует. Telegram API ChatMemberUpdated: https://core.telegram.org/bots/api#chatmemberupdated. Для chat_member бот должен иметь необходимые права и запрашивать этот тип событий. Username не считается постоянным ключом человека.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проверенные реальные attribution sensitivity results. 5 методов × 5 окон, 100% unknown. Вычислительный код реализован и проверен. Реальный ROMI не вычислим без подтверждённых затрат и результата. R_attr — атрибутированная выручка, R_clean — выручка по подтверждённым касаниям, C — реклама и зарегистрированные денежные расходы без повторного вычитания скидки. k — явное предположение о доле дополнительной выручки, а не результат атрибуции или доказательство причинного эффекта. Формулы согласованы с README и 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ML code verified tasks by ml integration audit. Customer target 14d, arrivals 7d and attributed new buyers 14d. Candidate algorithms scikit-learn baseline, logistic or Poisson, HistGradientBoosting, ExtraTrees; CatBoost/LightGBM optional not central. Separate model files/read-only shared DB scoring. Chronological folds with purge of label windows and occurred_at/recorded_at guards. Method rationale source verified by root: https://facebookexperimental.github.io/Robyn/docs/features/. Synthetic metrics verify pipeline, not effectiveness or causality.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audit/forecast/summary.json, заново выполненный реальный анализ. 11 development windows with overlapping targets. Holdout 04.09–10.09 excluded from algorithmic selection. mean7 weekly WAPE 26.95985412234402%; weekday_shrunk 38.153660102309935%. Forecast 11.09–17.09 1102254.5050263158 RUB and 117.45877192982456 orders. Empirical range 281499.3176406836..1923009.692411948, not calibrated interval. ML customer/channel module separately partial and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бюджета: исходный кейс (300000 RUB), проверенный ранее протокол extracted/07_causal_budget/causal_budget/PROTOCOL.md. 60000+90000+150000=300000. 240000 reserve until evidentiary gate. Amounts are proposed limits, not channel quotes. Randomization of paid external channel exposure is not asserted as feasible. Own-audience test estimates message effect only. Hypotheses listed are plans, not confirmed conclusions.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be1606587242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ff0a4b45134793" /><Relationship Type="http://schemas.openxmlformats.org/officeDocument/2006/relationships/slideLayout" Target="/ppt/slideLayouts/slideLayout1.xml" Id="R8ba7a36c71834e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a7a36c71834e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922266e5c4777" /><Relationship Type="http://schemas.openxmlformats.org/officeDocument/2006/relationships/notesSlide" Target="/ppt/notesSlides/notesSlide1.xml" Id="R348581de0a4542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1167d325e04f38" /><Relationship Type="http://schemas.openxmlformats.org/officeDocument/2006/relationships/chart" Target="/ppt/slides/charts/chart1.xml" Id="Rfc498860ac9749ec" /><Relationship Type="http://schemas.openxmlformats.org/officeDocument/2006/relationships/notesSlide" Target="/ppt/notesSlides/notesSlide2.xml" Id="R9e537cafa44947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98fcd2a2a2410c" /><Relationship Type="http://schemas.openxmlformats.org/officeDocument/2006/relationships/notesSlide" Target="/ppt/notesSlides/notesSlide3.xml" Id="R35179a582ad544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8744aaae54798" /><Relationship Type="http://schemas.openxmlformats.org/officeDocument/2006/relationships/notesSlide" Target="/ppt/notesSlides/notesSlide4.xml" Id="R0d5aadc767684f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d0b2d85234179" /><Relationship Type="http://schemas.openxmlformats.org/officeDocument/2006/relationships/image" Target="/ppt/media/image.png" Id="R8af764f34a1b4d36" /><Relationship Type="http://schemas.openxmlformats.org/officeDocument/2006/relationships/notesSlide" Target="/ppt/notesSlides/notesSlide5.xml" Id="R9f88caea7b4b48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8fc3c96d24015" /><Relationship Type="http://schemas.openxmlformats.org/officeDocument/2006/relationships/notesSlide" Target="/ppt/notesSlides/notesSlide6.xml" Id="R1ea53c56f8f04b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5cfb497d549d9" /><Relationship Type="http://schemas.openxmlformats.org/officeDocument/2006/relationships/notesSlide" Target="/ppt/notesSlides/notesSlide7.xml" Id="R1b20493278ef4c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a4bd23f954f9b" /><Relationship Type="http://schemas.openxmlformats.org/officeDocument/2006/relationships/hyperlink" Target="https://facebookexperimental.github.io/Robyn/docs/features/" TargetMode="External" Id="Rbb0a078c898f42e2" /><Relationship Type="http://schemas.openxmlformats.org/officeDocument/2006/relationships/notesSlide" Target="/ppt/notesSlides/notesSlide8.xml" Id="R8b45b5e7b91c42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5f2dc15de40a7" /><Relationship Type="http://schemas.openxmlformats.org/officeDocument/2006/relationships/chart" Target="/ppt/slides/charts/chart2.xml" Id="R5c1850c698254f98" /><Relationship Type="http://schemas.openxmlformats.org/officeDocument/2006/relationships/notesSlide" Target="/ppt/notesSlides/notesSlide9.xml" Id="Rd5d22a21c5d748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17a940e4c4482" /><Relationship Type="http://schemas.openxmlformats.org/officeDocument/2006/relationships/notesSlide" Target="/ppt/notesSlides/notesSlide10.xml" Id="R9ac6d144c0234d7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Выручка по дням, тыс. ₽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solidFill>
                <a:srgbClr val="102E36"/>
              </a:solidFill>
              <a:latin typeface="DejaVu Sans"/>
              <a:ea typeface="DejaVu Sans"/>
              <a:cs typeface="DejaVu Sans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Выручка, тыс. ₽</c:v>
          </c:tx>
          <c:spPr>
            <a:ln xmlns:a="http://schemas.openxmlformats.org/drawingml/2006/main" w="28575">
              <a:solidFill>
                <a:srgbClr val="087F80"/>
              </a:solidFill>
            </a:ln>
          </c:spPr>
          <c:marker>
            <c:symbol val="none"/>
          </c:marker>
          <c:cat>
            <c:numRef>
              <c:f>'Chart Data'!$A$2:$A$39</c:f>
              <c:numCache>
                <c:formatCode>General</c:formatCode>
                <c:ptCount val="38"/>
                <c:pt idx="0">
                  <c:v>04.08</c:v>
                </c:pt>
                <c:pt idx="1">
                  <c:v>05.08</c:v>
                </c:pt>
                <c:pt idx="2">
                  <c:v>06.08</c:v>
                </c:pt>
                <c:pt idx="3">
                  <c:v>07.08</c:v>
                </c:pt>
                <c:pt idx="4">
                  <c:v>08.08</c:v>
                </c:pt>
                <c:pt idx="5">
                  <c:v>09.08</c:v>
                </c:pt>
                <c:pt idx="6">
                  <c:v>10.08</c:v>
                </c:pt>
                <c:pt idx="7">
                  <c:v>11.08</c:v>
                </c:pt>
                <c:pt idx="8">
                  <c:v>12.08</c:v>
                </c:pt>
                <c:pt idx="9">
                  <c:v>13.08</c:v>
                </c:pt>
                <c:pt idx="10">
                  <c:v>14.08</c:v>
                </c:pt>
                <c:pt idx="11">
                  <c:v>15.08</c:v>
                </c:pt>
                <c:pt idx="12">
                  <c:v>16.08</c:v>
                </c:pt>
                <c:pt idx="13">
                  <c:v>17.08</c:v>
                </c:pt>
                <c:pt idx="14">
                  <c:v>18.08</c:v>
                </c:pt>
                <c:pt idx="15">
                  <c:v>19.08</c:v>
                </c:pt>
                <c:pt idx="16">
                  <c:v>20.08</c:v>
                </c:pt>
                <c:pt idx="17">
                  <c:v>21.08</c:v>
                </c:pt>
                <c:pt idx="18">
                  <c:v>22.08</c:v>
                </c:pt>
                <c:pt idx="19">
                  <c:v>23.08</c:v>
                </c:pt>
                <c:pt idx="20">
                  <c:v>24.08</c:v>
                </c:pt>
                <c:pt idx="21">
                  <c:v>25.08</c:v>
                </c:pt>
                <c:pt idx="22">
                  <c:v>26.08</c:v>
                </c:pt>
                <c:pt idx="23">
                  <c:v>27.08</c:v>
                </c:pt>
                <c:pt idx="24">
                  <c:v>28.08</c:v>
                </c:pt>
                <c:pt idx="25">
                  <c:v>29.08</c:v>
                </c:pt>
                <c:pt idx="26">
                  <c:v>30.08</c:v>
                </c:pt>
                <c:pt idx="27">
                  <c:v>31.08</c:v>
                </c:pt>
                <c:pt idx="28">
                  <c:v>01.09</c:v>
                </c:pt>
                <c:pt idx="29">
                  <c:v>02.09</c:v>
                </c:pt>
                <c:pt idx="30">
                  <c:v>03.09</c:v>
                </c:pt>
                <c:pt idx="31">
                  <c:v>04.09</c:v>
                </c:pt>
                <c:pt idx="32">
                  <c:v>05.09</c:v>
                </c:pt>
                <c:pt idx="33">
                  <c:v>06.09</c:v>
                </c:pt>
                <c:pt idx="34">
                  <c:v>07.09</c:v>
                </c:pt>
                <c:pt idx="35">
                  <c:v>08.09</c:v>
                </c:pt>
                <c:pt idx="36">
                  <c:v>09.09</c:v>
                </c:pt>
                <c:pt idx="37">
                  <c:v>10.09</c:v>
                </c:pt>
              </c:numCache>
            </c:numRef>
          </c:cat>
          <c:val>
            <c:numRef>
              <c:f>'Chart Data'!$B$2:$B$39</c:f>
              <c:numCache>
                <c:formatCode>0</c:formatCode>
                <c:ptCount val="38"/>
                <c:pt idx="0">
                  <c:v>84.13</c:v>
                </c:pt>
                <c:pt idx="1">
                  <c:v>67.11</c:v>
                </c:pt>
                <c:pt idx="2">
                  <c:v>62.445</c:v>
                </c:pt>
                <c:pt idx="3">
                  <c:v>54.995</c:v>
                </c:pt>
                <c:pt idx="4">
                  <c:v>275.015</c:v>
                </c:pt>
                <c:pt idx="5">
                  <c:v>524.09167</c:v>
                </c:pt>
                <c:pt idx="6">
                  <c:v>205.59</c:v>
                </c:pt>
                <c:pt idx="7">
                  <c:v>96.33</c:v>
                </c:pt>
                <c:pt idx="8">
                  <c:v>114.93</c:v>
                </c:pt>
                <c:pt idx="9">
                  <c:v>72.81</c:v>
                </c:pt>
                <c:pt idx="10">
                  <c:v>76.69</c:v>
                </c:pt>
                <c:pt idx="11">
                  <c:v>48.345</c:v>
                </c:pt>
                <c:pt idx="12">
                  <c:v>43.085</c:v>
                </c:pt>
                <c:pt idx="13">
                  <c:v>33.185</c:v>
                </c:pt>
                <c:pt idx="14">
                  <c:v>61.11</c:v>
                </c:pt>
                <c:pt idx="15">
                  <c:v>56.38</c:v>
                </c:pt>
                <c:pt idx="16">
                  <c:v>52.585</c:v>
                </c:pt>
                <c:pt idx="17">
                  <c:v>28.145</c:v>
                </c:pt>
                <c:pt idx="18">
                  <c:v>251.15</c:v>
                </c:pt>
                <c:pt idx="19">
                  <c:v>394.495</c:v>
                </c:pt>
                <c:pt idx="20">
                  <c:v>184.073</c:v>
                </c:pt>
                <c:pt idx="21">
                  <c:v>141.65</c:v>
                </c:pt>
                <c:pt idx="22">
                  <c:v>84.075</c:v>
                </c:pt>
                <c:pt idx="23">
                  <c:v>137.425</c:v>
                </c:pt>
                <c:pt idx="24">
                  <c:v>60.2</c:v>
                </c:pt>
                <c:pt idx="25">
                  <c:v>95.525</c:v>
                </c:pt>
                <c:pt idx="26">
                  <c:v>176.34</c:v>
                </c:pt>
                <c:pt idx="27">
                  <c:v>206.188</c:v>
                </c:pt>
                <c:pt idx="28">
                  <c:v>226.88</c:v>
                </c:pt>
                <c:pt idx="29">
                  <c:v>217.28</c:v>
                </c:pt>
                <c:pt idx="30">
                  <c:v>180.4</c:v>
                </c:pt>
                <c:pt idx="31">
                  <c:v>269.585</c:v>
                </c:pt>
                <c:pt idx="32">
                  <c:v>484.684</c:v>
                </c:pt>
                <c:pt idx="33">
                  <c:v>396.075</c:v>
                </c:pt>
                <c:pt idx="34">
                  <c:v>173.375</c:v>
                </c:pt>
                <c:pt idx="35">
                  <c:v>64.75</c:v>
                </c:pt>
                <c:pt idx="36">
                  <c:v>193.6</c:v>
                </c:pt>
                <c:pt idx="37">
                  <c:v>9.95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6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C8DBD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Ошибка недельной выручки</c:v>
          </c:tx>
          <c:spPr>
            <a:solidFill xmlns:a="http://schemas.openxmlformats.org/drawingml/2006/main">
              <a:srgbClr val="087F80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087F8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9A641A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Среднее за 7 дней</c:v>
                </c:pt>
                <c:pt idx="1">
                  <c:v>День недели со сглаживанием</c:v>
                </c:pt>
              </c:strCache>
            </c:strRef>
          </c:cat>
          <c:val>
            <c:numRef>
              <c:f>'Chart Data'!$B$2:$B$3</c:f>
              <c:numCache>
                <c:formatCode>0.00%</c:formatCode>
                <c:ptCount val="2"/>
                <c:pt idx="0">
                  <c:v>0.269599</c:v>
                </c:pt>
                <c:pt idx="1">
                  <c:v>0.381537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102E36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BD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0.5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C8DBDA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CF507-534A-453F-98BC-CA1DE997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Поступашки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F66F5-FD61-42F0-AFFE-E9F5B736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BD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A8FD80-2AA6-4736-B8E6-885E6184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Поступашки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D59BF-F83C-4793-A69F-8F66B728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6569B-D094-4D6C-AF39-6277A7BB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0175"/>
            <a:ext cx="10572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Аналитика Telegram</a:t>
            </a:r>
          </a:p>
          <a:p xmlns:a="http://schemas.openxmlformats.org/drawingml/2006/main">
            <a:pPr>
              <a:defRPr sz="43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и прогноз покупок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07639-2478-40A8-A56D-94C3E302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10620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Единый проект с отдельными модулями сбора данных и машинного обучения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D1CFA-3673-4A48-A7A9-98DD128D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Бизнес-вопрос: какой дополнительный доход приносит реклама</a:t>
            </a:r>
          </a:p>
          <a:p xmlns:a="http://schemas.openxmlformats.org/drawingml/2006/main">
            <a:pPr>
              <a:defRPr sz="21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и как обоснованно расходовать бюджет 300 000 ₽?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4FB9A-A52B-4EFC-BBDC-DFB7F6C5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Реальные продажи проанализированы. Боты, дашборд и ML: Реализовано частично.</a:t>
            </a:r>
          </a:p>
          <a:p xmlns:a="http://schemas.openxmlformats.org/drawingml/2006/main">
            <a:pPr>
              <a:defRPr sz="165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На следующих слайдах отдельно показаны работающий код, ограничения и план подключения.</a:t>
            </a:r>
          </a:p>
        </p:txBody>
      </p:sp>
    </p:spTree>
    <p:extLst>
      <p:ext uri="{BB962C8B-B14F-4D97-AF65-F5344CB8AC3E}">
        <p14:creationId xmlns:p14="http://schemas.microsoft.com/office/powerpoint/2010/main" val="17193228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0E1314-18BC-4213-A7FC-07CAF932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Что видно в реальных продажах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7F7D1-2098-44B1-B526-AE6E7DFD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Анализ исходной выгрузки: Реализовано и проверено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D53B1-3987-406D-9071-A78E72AD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BD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AB326-DE70-4292-AB69-95BC6106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Поступашки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FAC3D-6593-4168-8D35-3C523776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DF4EA-AC03-4C1E-A70B-A764E814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5 904 671,67 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470E7-32F4-4B04-A27F-635D3CE4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9552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795 строк   628 восстановленных заказов   606 покупателей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438150" y="2876550"/>
          <a:ext xmlns:a="http://schemas.openxmlformats.org/drawingml/2006/main" cx="7239000" cy="2466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498860ac9749ec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264F6-A66C-492A-AD04-9A9CC3E9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4 августа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A5F2C1-F616-445E-817A-F90165B6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286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10 сентября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F5FA80-0CEA-4FFD-ABD6-31B8208C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05125"/>
            <a:ext cx="3381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153 пакета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B2083D-A9AE-4B7B-AAC9-84A7A7B6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38525"/>
            <a:ext cx="3381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24,4% заказов</a:t>
            </a:r>
          </a:p>
          <a:p xmlns:a="http://schemas.openxmlformats.org/drawingml/2006/main">
            <a:pPr>
              <a:defRPr sz="18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35,9% выручки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5BEC56-2334-411A-8DA5-28D14710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29125"/>
            <a:ext cx="338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20 повторных покупателей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08CE14-8A35-40F9-B2A2-B63B05DC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57775"/>
            <a:ext cx="33813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3,3% покупателей в этом срезе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A84B83-4B2D-4C9C-A2E4-45AB7D3A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11125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Заказ = один студент + точное время до секунды. Пакет = несколько разных курсов в заказе.</a:t>
            </a:r>
          </a:p>
          <a:p xmlns:a="http://schemas.openxmlformats.org/drawingml/2006/main">
            <a:pPr>
              <a:defRPr sz="1575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Цены считаем фактическими долями оплаты. Первый видимый заказ не означает нового клиента.</a:t>
            </a:r>
          </a:p>
        </p:txBody>
      </p:sp>
    </p:spTree>
    <p:extLst>
      <p:ext uri="{BB962C8B-B14F-4D97-AF65-F5344CB8AC3E}">
        <p14:creationId xmlns:p14="http://schemas.microsoft.com/office/powerpoint/2010/main" val="13031599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56DC4B-E4D7-4C8C-AA0F-8A4CC822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Что мы знаем, оцениваем и пока не можем узнать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E7E36-90CA-465B-8427-CEAB697E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BD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89C07-44AC-4701-97C3-E6002372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Поступашки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95AE4-71B8-4066-8A1F-0000157C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AE684A-3E0D-4F3B-8731-856C62D2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Что мы знаем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BC9976-A91C-447F-AB9F-2FBA9DEA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3333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Суммы, даты и курсы в строках исходной выгрузки. Публикации, текст которых сохранился в экспорте.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37C6E-341D-4CDE-A9E6-7180D2A7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24000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Что мы оцениваем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F50C9-DDC8-4D75-B26D-C7E2312B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24100"/>
            <a:ext cx="3333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Заказы и пакеты по совпадению человека и времени. Прогноз выручки. Атрибуцию и условную вероятность покупки.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3FC6D2-AC07-410D-9B2A-4BA36281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3467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Что пока узнать нельзя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FF449-E0CC-45D2-8ED2-DBC4DA72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34671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Причинный эффект рекламы, настоящий ROMI и путь каждого покупателя до оплаты.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B52E9-7322-4871-94DB-9041FD4C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BD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30AB6-DB0C-4701-9D6B-7D351D1B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43425"/>
            <a:ext cx="3476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Нужны для наблюдения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B2EA6A-6682-4C26-8A18-12893182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43425"/>
            <a:ext cx="72675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Источники и время контактов, история подписок, связка пользователя с CRM и оплатой, возвраты, фактические затраты и период полноты сбора.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7CDFBB-865B-49C1-AD8E-9113F3F8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9120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ML и сбор: Реализовано частично. Эксперимент: Только спроектировано.</a:t>
            </a:r>
          </a:p>
          <a:p xmlns:a="http://schemas.openxmlformats.org/drawingml/2006/main">
            <a:pPr>
              <a:defRPr sz="1575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Для причинного эффекта нужен контроль до рекламного воздействия.</a:t>
            </a:r>
          </a:p>
        </p:txBody>
      </p:sp>
    </p:spTree>
    <p:extLst>
      <p:ext uri="{BB962C8B-B14F-4D97-AF65-F5344CB8AC3E}">
        <p14:creationId xmlns:p14="http://schemas.microsoft.com/office/powerpoint/2010/main" val="17869943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DB02AF-19CF-4B66-9DF5-EC8AA160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Одна база, отдельные роли компонентов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5DD6E-9389-4353-8160-AE8697A3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BD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2B64D-803C-44C0-835D-749EEE10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Поступашки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44E5A6-9360-4E01-BCC6-18C20460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CDA1C-23E4-4CFC-A673-1EAB02AD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14475"/>
            <a:ext cx="32575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5"/>
          </a:solidFill>
          <a:ln xmlns:a="http://schemas.openxmlformats.org/drawingml/2006/main" w="14288">
            <a:solidFill>
              <a:srgbClr val="087F8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8FE6E0-A5C1-4DB8-A947-341D3316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Боты и импорт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F19F1-9902-48E9-BE63-1FB5C864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События Telegram,</a:t>
            </a:r>
          </a:p>
          <a:p xmlns:a="http://schemas.openxmlformats.org/drawingml/2006/main">
            <a:pPr>
              <a:def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заявки и оплаты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4DDAE-F9EA-43AB-AF0B-6C59CEFA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A641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9A641A"/>
                </a:solidFill>
                <a:latin typeface="DejaVu Sans"/>
                <a:ea typeface="DejaVu Sans"/>
                <a:cs typeface="DejaVu Sans"/>
              </a:rPr>
              <a:t>Реализовано частично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D3978D-C7BE-4813-8363-4142F113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514475"/>
            <a:ext cx="32575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5"/>
          </a:solidFill>
          <a:ln xmlns:a="http://schemas.openxmlformats.org/drawingml/2006/main" w="14288">
            <a:solidFill>
              <a:srgbClr val="087F8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3234C-FD8E-4A30-B0BF-A4CD7200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6573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Общая SQLite БД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787E4-75FE-4EB3-B914-7F8B7DCE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764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Факты, метки real/demo,</a:t>
            </a:r>
          </a:p>
          <a:p xmlns:a="http://schemas.openxmlformats.org/drawingml/2006/main">
            <a:pPr>
              <a:def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время и происхождение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16CB8-5F25-48D9-9B3A-9A3EFD65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00350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A641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9A641A"/>
                </a:solidFill>
                <a:latin typeface="DejaVu Sans"/>
                <a:ea typeface="DejaVu Sans"/>
                <a:cs typeface="DejaVu Sans"/>
              </a:rPr>
              <a:t>Реализовано частично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E96804-E204-48A8-A666-4AC04AEF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14475"/>
            <a:ext cx="32575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5"/>
          </a:solidFill>
          <a:ln xmlns:a="http://schemas.openxmlformats.org/drawingml/2006/main" w="14288">
            <a:solidFill>
              <a:srgbClr val="087F8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EC6604-BFF1-4EA5-98AB-C35B7771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573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Дашборд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0EE807-F724-4CBC-99FB-A8E64A56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764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7 разделов наблюдений</a:t>
            </a:r>
          </a:p>
          <a:p xmlns:a="http://schemas.openxmlformats.org/drawingml/2006/main">
            <a:pPr>
              <a:def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и отдельная вкладка ML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E612F8-9F8F-44F2-B8A9-311273EF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A641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9A641A"/>
                </a:solidFill>
                <a:latin typeface="DejaVu Sans"/>
                <a:ea typeface="DejaVu Sans"/>
                <a:cs typeface="DejaVu Sans"/>
              </a:rPr>
              <a:t>Реализовано частично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3808B0-FF2B-4F5D-BDCA-9E4095A2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76675"/>
            <a:ext cx="32575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5"/>
          </a:solidFill>
          <a:ln xmlns:a="http://schemas.openxmlformats.org/drawingml/2006/main" w="14288">
            <a:solidFill>
              <a:srgbClr val="087F8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8DA8ED-7989-453D-B1D9-44C69E14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Аналитика продаж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C74484-42A2-4385-A735-0DF677CB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Исходная выгрузка, пакеты</a:t>
            </a:r>
          </a:p>
          <a:p xmlns:a="http://schemas.openxmlformats.org/drawingml/2006/main">
            <a:pPr>
              <a:def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и временной прогноз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FFD7AA-1F1B-4906-A96A-B8797340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Реализовано и проверено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F44C51-C845-42CC-B4AA-2DDCC26F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876675"/>
            <a:ext cx="32575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5"/>
          </a:solidFill>
          <a:ln xmlns:a="http://schemas.openxmlformats.org/drawingml/2006/main" w="14288">
            <a:solidFill>
              <a:srgbClr val="087F8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636B06-34B9-4033-A933-96825F1C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0195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ML-модуль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D3263B-1C69-4901-81BF-8613FB0A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4386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Читает признаки.</a:t>
            </a:r>
          </a:p>
          <a:p xmlns:a="http://schemas.openxmlformats.org/drawingml/2006/main">
            <a:pPr>
              <a:def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Обучает и считает сценарии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F6B7A2-3CFE-47E6-A540-9022E788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162550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A641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9A641A"/>
                </a:solidFill>
                <a:latin typeface="DejaVu Sans"/>
                <a:ea typeface="DejaVu Sans"/>
                <a:cs typeface="DejaVu Sans"/>
              </a:rPr>
              <a:t>Реализовано частично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057EB3-E978-4B33-A4C3-BA505FB1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76675"/>
            <a:ext cx="32575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5"/>
          </a:solidFill>
          <a:ln xmlns:a="http://schemas.openxmlformats.org/drawingml/2006/main" w="14288">
            <a:solidFill>
              <a:srgbClr val="087F8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E39335-D0DB-4B45-B865-130527AA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195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Эксперимент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E2CF22-3A5E-4C3D-8636-160D5792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Протокол проверки</a:t>
            </a:r>
          </a:p>
          <a:p xmlns:a="http://schemas.openxmlformats.org/drawingml/2006/main">
            <a:pPr>
              <a:def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дополнительной прибыли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D5A141-0075-471C-9C81-EA8CAA64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62550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A641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9A641A"/>
                </a:solidFill>
                <a:latin typeface="DejaVu Sans"/>
                <a:ea typeface="DejaVu Sans"/>
                <a:cs typeface="DejaVu Sans"/>
              </a:rPr>
              <a:t>Только спроектировано</a:t>
            </a:r>
          </a:p>
        </p:txBody>
      </p:sp>
      <p:cxnSp>
        <p:nvCxnSpPr>
          <p:cNvPr id="62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790950" y="2333625"/>
            <a:ext cx="676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0"/>
            </a:solidFill>
            <a:prstDash val="solid"/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724775" y="2333625"/>
            <a:ext cx="676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0"/>
            </a:solidFill>
            <a:prstDash val="solid"/>
            <a:tailEnd type="arrow" w="med" len="med"/>
          </a:ln>
        </p:spPr>
      </p:cxnSp>
      <p:cxnSp>
        <p:nvCxnSpPr>
          <p:cNvPr id="64" name=""/>
          <p:cNvCxnSpPr>
            <a:stCxn xmlns:a="http://schemas.openxmlformats.org/drawingml/2006/main" id="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6096000" y="3152775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0"/>
            </a:solidFill>
            <a:prstDash val="solid"/>
            <a:tailEnd type="arrow" w="med" len="med"/>
          </a:ln>
        </p:spPr>
      </p:cxnSp>
      <p:cxnSp>
        <p:nvCxnSpPr>
          <p:cNvPr id="65" name=""/>
          <p:cNvCxnSpPr>
            <a:stCxn xmlns:a="http://schemas.openxmlformats.org/drawingml/2006/main" id="21" idx="3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V="1">
            <a:off x="7724775" y="3152775"/>
            <a:ext cx="2305050" cy="1543050"/>
          </a:xfrm>
          <a:prstGeom xmlns:a="http://schemas.openxmlformats.org/drawingml/2006/main" prst="bentConnector4">
            <a:avLst>
              <a:gd name="adj1" fmla="val 9917"/>
              <a:gd name="adj2" fmla="val 85185"/>
            </a:avLst>
          </a:prstGeom>
          <a:ln xmlns:a="http://schemas.openxmlformats.org/drawingml/2006/main" w="19050">
            <a:solidFill>
              <a:srgbClr val="087F80"/>
            </a:solidFill>
            <a:prstDash val="solid"/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4D81CD-41EA-4EE7-A7E5-D5E6E599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Сбор фиксирует факты. ML читает их через общий контракт и возвращает оценки.</a:t>
            </a:r>
          </a:p>
          <a:p xmlns:a="http://schemas.openxmlformats.org/drawingml/2006/main">
            <a:pPr>
              <a:defRPr sz="165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Исторический CSV анализируется отдельно: связь с новыми Telegram ID пока не настроена.</a:t>
            </a:r>
          </a:p>
        </p:txBody>
      </p:sp>
    </p:spTree>
    <p:extLst>
      <p:ext uri="{BB962C8B-B14F-4D97-AF65-F5344CB8AC3E}">
        <p14:creationId xmlns:p14="http://schemas.microsoft.com/office/powerpoint/2010/main" val="7930962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9AE0E6-38D5-4BA6-9AD0-A5C67F3E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Дашборд для ежедневной работы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1C72B-2F9F-489D-8EB8-1C7E3653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641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9A641A"/>
                </a:solidFill>
                <a:latin typeface="DejaVu Sans"/>
                <a:ea typeface="DejaVu Sans"/>
                <a:cs typeface="DejaVu Sans"/>
              </a:rPr>
              <a:t>База и интерфейс: Реализовано частично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38D2C-C4EF-462D-9DED-3513333C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BD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7BB4C-D6D6-4D77-ADFA-6A044622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Поступашки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E9087-592F-4A39-8CF7-DA562591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764f34a1b4d36"/>
          <a:stretch xmlns:a="http://schemas.openxmlformats.org/drawingml/2006/main"/>
        </p:blipFill>
        <p:spPr>
          <a:xfrm xmlns:a="http://schemas.openxmlformats.org/drawingml/2006/main">
            <a:off x="1344757" y="1647825"/>
            <a:ext cx="6054436" cy="41624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F7D9C-DFD1-42AD-A05A-064E6535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609725"/>
            <a:ext cx="3019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Что уже можно сделать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35055-C5F9-4719-A3D0-BD62AC8A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343150"/>
            <a:ext cx="30194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Загрузить записи и увидеть пересчёт.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Сравнить источники, воронку и когорты.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Проверить основания атрибуции и качество сбора.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Открыть ML-сценарий в том же проекте.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2279C-587A-422B-9B8E-307FE0E9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38825"/>
            <a:ext cx="1112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HTML-снимок интерфейса на синтетике. Маршруты, загрузка и ML-запросы проверены.</a:t>
            </a:r>
          </a:p>
          <a:p xmlns:a="http://schemas.openxmlformats.org/drawingml/2006/main">
            <a:pPr>
              <a:defRPr sz="1425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Для реальной работы нужны Telegram, CRM и полнота потока. Визуальная проверка в браузере не выполнена.</a:t>
            </a:r>
          </a:p>
        </p:txBody>
      </p:sp>
    </p:spTree>
    <p:extLst>
      <p:ext uri="{BB962C8B-B14F-4D97-AF65-F5344CB8AC3E}">
        <p14:creationId xmlns:p14="http://schemas.microsoft.com/office/powerpoint/2010/main" val="19081283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9CB201-61AA-447B-AD20-6171C18D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Сбор связывает источник с человеком и оплатой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113AED-32B4-432E-BC33-F1578547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641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9A641A"/>
                </a:solidFill>
                <a:latin typeface="DejaVu Sans"/>
                <a:ea typeface="DejaVu Sans"/>
                <a:cs typeface="DejaVu Sans"/>
              </a:rPr>
              <a:t>Боты и CRM: Реализовано частично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C4C8C-F28C-4579-BE17-490C8CC0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BD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41026-FFD4-4845-B1C6-8834D9C8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Поступашки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63E4E-D7FE-47C8-8655-875EB36D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7D41F-E861-489C-AE4C-9E23D91B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240030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5"/>
          </a:solidFill>
          <a:ln xmlns:a="http://schemas.openxmlformats.org/drawingml/2006/main" w="14288">
            <a:solidFill>
              <a:srgbClr val="087F8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4AF89-1250-41BB-8EB5-C2363286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5737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Источник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4748C6-7C40-44DF-A9C9-BD16E0F2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76475"/>
            <a:ext cx="2057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Отдельный token</a:t>
            </a:r>
          </a:p>
          <a:p xmlns:a="http://schemas.openxmlformats.org/drawingml/2006/main">
            <a:pPr>
              <a:def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для размещения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E16B81-ECAA-47FA-9ACC-17DD154A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A641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9A641A"/>
                </a:solidFill>
                <a:latin typeface="DejaVu Sans"/>
                <a:ea typeface="DejaVu Sans"/>
                <a:cs typeface="DejaVu Sans"/>
              </a:rPr>
              <a:t>Реализовано частично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35495-A9AF-4DE5-99F8-02CE4D89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714500"/>
            <a:ext cx="240030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5"/>
          </a:solidFill>
          <a:ln xmlns:a="http://schemas.openxmlformats.org/drawingml/2006/main" w="14288">
            <a:solidFill>
              <a:srgbClr val="087F8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3F09D-04C0-45E4-AD0E-A8B89517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85737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Человек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74AAA3-1C71-4D99-8081-D2E38CB3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276475"/>
            <a:ext cx="2057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Telegram user_id</a:t>
            </a:r>
          </a:p>
          <a:p xmlns:a="http://schemas.openxmlformats.org/drawingml/2006/main">
            <a:pPr>
              <a:def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и время события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C79B8-3077-491F-B45F-620551A9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91465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A641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9A641A"/>
                </a:solidFill>
                <a:latin typeface="DejaVu Sans"/>
                <a:ea typeface="DejaVu Sans"/>
                <a:cs typeface="DejaVu Sans"/>
              </a:rPr>
              <a:t>Реализовано частично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7D0EFE-6162-488D-AAD8-017085F7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14500"/>
            <a:ext cx="240030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5"/>
          </a:solidFill>
          <a:ln xmlns:a="http://schemas.openxmlformats.org/drawingml/2006/main" w="14288">
            <a:solidFill>
              <a:srgbClr val="087F8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DF2932-068A-40A6-A5D6-77A826CD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5737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Заказ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5A2772-361A-4FAE-B073-4C3B8E02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76475"/>
            <a:ext cx="2057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Подтверждённая</a:t>
            </a:r>
          </a:p>
          <a:p xmlns:a="http://schemas.openxmlformats.org/drawingml/2006/main">
            <a:pPr>
              <a:def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связь с CRM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C89C5D-3F1B-4A8D-A259-6A0749C9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1465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A641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9A641A"/>
                </a:solidFill>
                <a:latin typeface="DejaVu Sans"/>
                <a:ea typeface="DejaVu Sans"/>
                <a:cs typeface="DejaVu Sans"/>
              </a:rPr>
              <a:t>Реализовано частично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F27E2C-0340-4A06-9818-FF4FBDB7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714500"/>
            <a:ext cx="240982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5"/>
          </a:solidFill>
          <a:ln xmlns:a="http://schemas.openxmlformats.org/drawingml/2006/main" w="14288">
            <a:solidFill>
              <a:srgbClr val="087F8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F79CC2-6F5B-4688-AC5E-C440BCB0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857375"/>
            <a:ext cx="2066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Оплата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9CEFFD-B2FC-45F1-930B-E8CB16E4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276475"/>
            <a:ext cx="20669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payment_id, сумма,</a:t>
            </a:r>
          </a:p>
          <a:p xmlns:a="http://schemas.openxmlformats.org/drawingml/2006/main">
            <a:pPr>
              <a:def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статус и возврат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A5796A-6342-4082-84C0-F9B0E2D6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914650"/>
            <a:ext cx="2066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A641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9A641A"/>
                </a:solidFill>
                <a:latin typeface="DejaVu Sans"/>
                <a:ea typeface="DejaVu Sans"/>
                <a:cs typeface="DejaVu Sans"/>
              </a:rPr>
              <a:t>Реализовано частично</a:t>
            </a:r>
          </a:p>
        </p:txBody>
      </p:sp>
      <p:cxnSp>
        <p:nvCxnSpPr>
          <p:cNvPr id="51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933700" y="2490788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0"/>
            </a:solidFill>
            <a:prstDash val="solid"/>
            <a:tailEnd type="arrow" w="med" len="med"/>
          </a:ln>
        </p:spPr>
      </p:cxnSp>
      <p:cxnSp>
        <p:nvCxnSpPr>
          <p:cNvPr id="52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838825" y="2490788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0"/>
            </a:solidFill>
            <a:prstDash val="solid"/>
            <a:tailEnd type="arrow" w="med" len="med"/>
          </a:ln>
        </p:spPr>
      </p:cxnSp>
      <p:cxnSp>
        <p:nvCxnSpPr>
          <p:cNvPr id="53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743950" y="2490788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0"/>
            </a:solidFill>
            <a:prstDash val="solid"/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86F4F4-2C50-4A9C-9B22-1BE0D856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9975"/>
            <a:ext cx="5124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Код уже делает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89BFEB-31B6-4A1F-8A88-D7AA3E90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24325"/>
            <a:ext cx="5143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Обрабатывает /start, вступления и выходы в своём канале, анкеты, заявки и участие в событиях. Повторная доставка не создаёт дубли. Ошибки остаются в журнале.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23E332-D7F5-402E-A548-BA056803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09975"/>
            <a:ext cx="5257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A641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9A641A"/>
                </a:solidFill>
                <a:latin typeface="DejaVu Sans"/>
                <a:ea typeface="DejaVu Sans"/>
                <a:cs typeface="DejaVu Sans"/>
              </a:rPr>
              <a:t>До боевого запуска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28115F-2041-4DA8-99DC-9646506E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24325"/>
            <a:ext cx="52578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Нужны токен, права администратора, источники ссылок и подтверждённое сопоставление Telegram с CRM. Чтение поста или переписка с менеджером не возникают в данных автоматически.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E078FA-F9CA-4D09-AD99-410F87C6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Контракты и сценарии проверены локально на демо. Реальный Telegram и платёжный поток не подключены.</a:t>
            </a:r>
          </a:p>
        </p:txBody>
      </p:sp>
    </p:spTree>
    <p:extLst>
      <p:ext uri="{BB962C8B-B14F-4D97-AF65-F5344CB8AC3E}">
        <p14:creationId xmlns:p14="http://schemas.microsoft.com/office/powerpoint/2010/main" val="14595182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D36AFF-E638-4D64-9508-CB34E9A1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Атрибуция и ROMI отвечают на разные вопросы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7B106-932E-4511-8BC5-3C5F35A8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641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9A641A"/>
                </a:solidFill>
                <a:latin typeface="DejaVu Sans"/>
                <a:ea typeface="DejaVu Sans"/>
                <a:cs typeface="DejaVu Sans"/>
              </a:rPr>
              <a:t>История, атрибуция и ROMI: Реализовано частично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A29E9-65F4-4BBC-A3D4-F1931DB7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BD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CC932-66A8-4633-B018-A9E51834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Поступашки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56E92-D94D-4760-B69A-9FE77031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9AD002-F815-4527-B39C-E0CED9E3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5,90 млн ₽ с неизвестным источником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C6C8B-0198-494F-807B-D62E2EFB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В окне 28.07–11.09 есть 73 сообщения, в том числе 18 без текста. История неполна.</a:t>
            </a:r>
          </a:p>
          <a:p xmlns:a="http://schemas.openxmlformats.org/drawingml/2006/main">
            <a:pPr>
              <a:defRPr sz="1800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Личных касаний и расходов нет. Все 25 комбинаций модели и окна дают unknown.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33400" y="3009900"/>
          <a:ext xmlns:a="http://schemas.openxmlformats.org/drawingml/2006/main" cx="11125200" cy="2286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714750"/>
                <a:gridCol w="7410450"/>
              </a:tblGrid>
              <a:tr h="4381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Механизм</a:t>
                      </a:r>
                    </a:p>
                  </a:txBody>
                  <a:tcPr marL="133350" marR="133350" marT="95250" marB="95250" anchor="ctr">
                    <a:solidFill>
                      <a:srgbClr val="102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Что означает результат</a:t>
                      </a:r>
                    </a:p>
                  </a:txBody>
                  <a:tcPr marL="133350" marR="133350" marT="95250" marB="95250" anchor="ctr">
                    <a:solidFill>
                      <a:srgbClr val="102E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First / last touch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Вся выручка достаётся первому / последнему наблюдаемому касанию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Linear / position / time decay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Выручка распределяется между касаниями по выбранным весам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ROMI по атрибуции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(R_attr − C) / C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Сценарный ROMI при k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(k × R_clean − C) / C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46E9B6-5D96-42AA-AE36-8A8F6B65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C — реклама и зарегистрированные денежные расходы; скидка уже в цене.</a:t>
            </a:r>
          </a:p>
          <a:p xmlns:a="http://schemas.openxmlformats.org/drawingml/2006/main">
            <a:pPr>
              <a:defRPr sz="150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k — предположение, не результат атрибуции.</a:t>
            </a:r>
          </a:p>
        </p:txBody>
      </p:sp>
    </p:spTree>
    <p:extLst>
      <p:ext uri="{BB962C8B-B14F-4D97-AF65-F5344CB8AC3E}">
        <p14:creationId xmlns:p14="http://schemas.microsoft.com/office/powerpoint/2010/main" val="1461632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C2E2AE-A01B-4AF0-87CA-692C2952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ML: покупка, канал и предельная цена рекламы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F1EB8-B05F-4FA7-B65B-12899215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641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9A641A"/>
                </a:solidFill>
                <a:latin typeface="DejaVu Sans"/>
                <a:ea typeface="DejaVu Sans"/>
                <a:cs typeface="DejaVu Sans"/>
              </a:rPr>
              <a:t>Обучение только на синтетических данных: Реализовано частично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0A7E4-1880-4C14-8803-C11E7CBA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BD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333FF-02D9-4BAE-ABE7-17EA8845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Поступашки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AF5BC-B58B-4B18-AE0F-7D550A58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33400" y="1562100"/>
          <a:ext xmlns:a="http://schemas.openxmlformats.org/drawingml/2006/main" cx="11125200" cy="21431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4391025"/>
                <a:gridCol w="4067175"/>
              </a:tblGrid>
              <a:tr h="438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Задача</a:t>
                      </a:r>
                    </a:p>
                  </a:txBody>
                  <a:tcPr marL="133350" marR="133350" marT="95250" marB="95250" anchor="ctr">
                    <a:solidFill>
                      <a:srgbClr val="102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Вход</a:t>
                      </a:r>
                    </a:p>
                  </a:txBody>
                  <a:tcPr marL="133350" marR="133350" marT="95250" marB="95250" anchor="ctr">
                    <a:solidFill>
                      <a:srgbClr val="102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Выход</a:t>
                      </a:r>
                    </a:p>
                  </a:txBody>
                  <a:tcPr marL="133350" marR="133350" marT="95250" marB="95250" anchor="ctr">
                    <a:solidFill>
                      <a:srgbClr val="102E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Клиентская модель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Состояние до назначения,</a:t>
                      </a:r>
                    </a:p>
                    <a:p>
                      <a:r>
                        <a:rPr sz="172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контакты, курс и условия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Вероятность покупки</a:t>
                      </a:r>
                    </a:p>
                    <a:p>
                      <a:r>
                        <a:rPr sz="172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на горизонте 14 дней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Модель канала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История размещений,</a:t>
                      </a:r>
                    </a:p>
                    <a:p>
                      <a:r>
                        <a:rPr sz="172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повторы и тренд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Новые люди и покупатели</a:t>
                      </a:r>
                    </a:p>
                    <a:p>
                      <a:r>
                        <a:rPr sz="172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 наблюдаемой атрибуции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Экономический расчёт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Прогноз, затраты,</a:t>
                      </a:r>
                    </a:p>
                    <a:p>
                      <a:r>
                        <a:rPr sz="172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доля дополнительных покупок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Предельная допустимая</a:t>
                      </a:r>
                    </a:p>
                    <a:p>
                      <a:r>
                        <a:rPr sz="172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цена рекламы по сценарию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85880-8F8D-4DD0-ACB6-342FFCC3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14825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Перебор и проверка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EBDF8-1B8B-4357-B028-41347DCA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00600"/>
            <a:ext cx="52863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Scikit-learn: baseline, линейные модели, HistGradientBoosting и ExtraTrees. Два временных разбиения, отдельные калибровка и тест. Будущие события исключены.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44BEA-4E86-4492-8DA7-36AC40C0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4825"/>
            <a:ext cx="518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Память рекламного контакта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B7F02-8C8B-4E2F-A9EB-416F9EE3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00600"/>
            <a:ext cx="51816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Adstock и Hill описывают запаздывание и насыщение отклика в Meta Robyn. Здесь проверяем эти формы как кандидатов, без заявления об эффекте на реальных клиентах.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5443C-D0E2-4F59-86E0-83C7BB9D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134100"/>
            <a:ext cx="518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Источник подхода: </a:t>
            </a:r>
            <a:r>
              <a:rPr sz="1200" b="0">
                <a:solidFill>
                  <a:srgbClr val="087F80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bb0a078c898f42e2"/>
              </a:rPr>
              <a:t>Meta Robyn / Features</a:t>
            </a:r>
          </a:p>
        </p:txBody>
      </p:sp>
    </p:spTree>
    <p:extLst>
      <p:ext uri="{BB962C8B-B14F-4D97-AF65-F5344CB8AC3E}">
        <p14:creationId xmlns:p14="http://schemas.microsoft.com/office/powerpoint/2010/main" val="20592338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A4678E-5BC9-46DD-B904-92DE3B44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На реальных данных сложнее не значит точнее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D986B2-F763-41A3-AFF6-0B99590C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Исторический прогноз: Реализовано и проверено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21D28-EB8F-44F5-89A4-6B8DC0DF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BD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3E30E-6089-4DC1-A7B8-5B687653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Поступашки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CA581-1FE2-4727-A3BF-F07E426B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95B0B-0787-484D-9A5A-A44CCAC8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674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Ошибка суммы за 4–10 сентября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381000" y="2171700"/>
          <a:ext xmlns:a="http://schemas.openxmlformats.org/drawingml/2006/main" cx="6667500" cy="3105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c1850c698254f98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584D7-9E8F-43F0-BF49-2556076C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76400"/>
            <a:ext cx="3943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1,10 млн 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199EB-8061-4756-B22B-F64983F7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43150"/>
            <a:ext cx="39433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Прогноз на 11–17 сентября</a:t>
            </a:r>
          </a:p>
          <a:p xmlns:a="http://schemas.openxmlformats.org/drawingml/2006/main">
            <a:pPr>
              <a:defRPr sz="1950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из среза по 10 сентября.</a:t>
            </a:r>
          </a:p>
          <a:p xmlns:a="http://schemas.openxmlformats.org/drawingml/2006/main">
            <a:pPr>
              <a:defRPr sz="1950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Около 117 заказов.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6BCE71-3F57-4233-BEB2-3DBA303A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24275"/>
            <a:ext cx="3943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0,28–1,92 млн 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1A157-8ADB-4065-BFCC-66B600CC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76725"/>
            <a:ext cx="3943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Диапазон прошлых ошибок.</a:t>
            </a:r>
          </a:p>
          <a:p xmlns:a="http://schemas.openxmlformats.org/drawingml/2006/main">
            <a:pPr>
              <a:defRPr sz="18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Подтверждённого уровня</a:t>
            </a:r>
          </a:p>
          <a:p xmlns:a="http://schemas.openxmlformats.org/drawingml/2006/main">
            <a:pPr>
              <a:defRPr sz="1875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покрытия у него нет.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EEE99-0125-45BB-AB07-90F1708A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67375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Из 6 моделей выбрана модель дня недели. На последней неделе она проиграла baseline.</a:t>
            </a:r>
          </a:p>
          <a:p xmlns:a="http://schemas.openxmlformats.org/drawingml/2006/main">
            <a:pPr>
              <a:defRPr sz="165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История всего 38 дней. Прогноз не оценивает эффект рекламы и не зависит от бюджета.</a:t>
            </a:r>
          </a:p>
        </p:txBody>
      </p:sp>
    </p:spTree>
    <p:extLst>
      <p:ext uri="{BB962C8B-B14F-4D97-AF65-F5344CB8AC3E}">
        <p14:creationId xmlns:p14="http://schemas.microsoft.com/office/powerpoint/2010/main" val="7581347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482110-5D05-4FF5-B932-4D9EB9C0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Проверки на реальных данных и бюджет 300 000 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69AB2-6732-4107-A799-77DD3318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641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9A641A"/>
                </a:solidFill>
                <a:latin typeface="DejaVu Sans"/>
                <a:ea typeface="DejaVu Sans"/>
                <a:cs typeface="DejaVu Sans"/>
              </a:rPr>
              <a:t>Гипотезы, эксперимент и распределение: Только спроектировано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76A571-0E98-4CFC-B14A-70A8AFB1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BD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68C2E-11E7-4174-A095-AE0E212E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Поступашки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69CEF3-01B3-417E-889A-27CB6FFB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533400" y="1552575"/>
          <a:ext xmlns:a="http://schemas.openxmlformats.org/drawingml/2006/main" cx="11125200" cy="21431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876800"/>
                <a:gridCol w="6248400"/>
              </a:tblGrid>
              <a:tr h="438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Гипотеза</a:t>
                      </a:r>
                    </a:p>
                  </a:txBody>
                  <a:tcPr marL="133350" marR="133350" marT="95250" marB="95250" anchor="ctr">
                    <a:solidFill>
                      <a:srgbClr val="102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Как проверить</a:t>
                      </a:r>
                    </a:p>
                  </a:txBody>
                  <a:tcPr marL="133350" marR="133350" marT="95250" marB="95250" anchor="ctr">
                    <a:solidFill>
                      <a:srgbClr val="102E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Спрос связан с набором на стажировки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Календарь наборов и несколько сезонов продаж,</a:t>
                      </a:r>
                    </a:p>
                    <a:p>
                      <a:r>
                        <a:rPr sz="172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 учётом акций и цен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Покупке предшествует подписка и прогрев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Время вступления, контактов и первой оплаты.</a:t>
                      </a:r>
                    </a:p>
                    <a:p>
                      <a:r>
                        <a:rPr sz="172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Для эффекта прогрева нужен контроль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Повторные размещения исчерпывают канал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Приток новых людей и покупки по размещениям,</a:t>
                      </a:r>
                    </a:p>
                    <a:p>
                      <a:r>
                        <a:rPr sz="1725">
                          <a:solidFill>
                            <a:srgbClr val="102E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 учётом пересечений аудитории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34C22-E8AE-4B1A-887B-91AECE5B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60 000 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FA0ED-7F4C-48B6-8C9C-220D5D8A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05375"/>
            <a:ext cx="31718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Пилот: до 4 источников,</a:t>
            </a:r>
          </a:p>
          <a:p xmlns:a="http://schemas.openxmlformats.org/drawingml/2006/main">
            <a:pPr>
              <a:defRPr sz="1800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до 15 000 ₽ на источник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DF8599-73D3-4590-B673-CE54D578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862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90 000 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F84969-DF67-4E9B-B6B4-2241AF0E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905375"/>
            <a:ext cx="33623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Подтверждение гипотезы</a:t>
            </a:r>
          </a:p>
          <a:p xmlns:a="http://schemas.openxmlformats.org/drawingml/2006/main">
            <a:pPr>
              <a:defRPr sz="1800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на новой выборке с контролем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0FB84-8D75-4057-874F-14AA7A32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86250"/>
            <a:ext cx="3295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150 000 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8B9490-7CEB-4E61-B05D-4B66A49C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905375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Масштабирование:</a:t>
            </a:r>
          </a:p>
          <a:p xmlns:a="http://schemas.openxmlformats.org/drawingml/2006/main">
            <a:pPr>
              <a:defRPr sz="1800" b="0">
                <a:solidFill>
                  <a:srgbClr val="102E3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2E36"/>
                </a:solidFill>
                <a:latin typeface="DejaVu Sans"/>
                <a:ea typeface="DejaVu Sans"/>
                <a:cs typeface="DejaVu Sans"/>
              </a:rPr>
              <a:t>3 транша по 50 000 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501B94-7FEC-4A95-8CAF-3522A809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00725"/>
            <a:ext cx="11125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Лимиты плана требуют проверки. Без контроля и подтверждения дополнительной прибыли</a:t>
            </a:r>
          </a:p>
          <a:p xmlns:a="http://schemas.openxmlformats.org/drawingml/2006/main">
            <a:pPr>
              <a:defRPr sz="1575" b="0">
                <a:solidFill>
                  <a:srgbClr val="5369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3696D"/>
                </a:solidFill>
                <a:latin typeface="DejaVu Sans"/>
                <a:ea typeface="DejaVu Sans"/>
                <a:cs typeface="DejaVu Sans"/>
              </a:rPr>
              <a:t>240 000 ₽ остаются в резерве. Тест своей рассылки не доказывает эффект внешнего канала.</a:t>
            </a:r>
          </a:p>
        </p:txBody>
      </p:sp>
    </p:spTree>
    <p:extLst>
      <p:ext uri="{BB962C8B-B14F-4D97-AF65-F5344CB8AC3E}">
        <p14:creationId xmlns:p14="http://schemas.microsoft.com/office/powerpoint/2010/main" val="8986718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2026-09-12T19:16:02.2520000Z</dcterms:created>
  <dcterms:modified xsi:type="dcterms:W3CDTF">2026-09-12T19:16:02.2520000Z</dcterms:modified>
</coreProperties>
</file>