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9f57b7186241c4" /><Relationship Type="http://schemas.openxmlformats.org/officeDocument/2006/relationships/extended-properties" Target="/docProps/app.xml" Id="R1a15dc3ed6304665" /><Relationship Type="http://schemas.openxmlformats.org/officeDocument/2006/relationships/officeDocument" Target="/ppt/presentation.xml" Id="Rd2401868556b40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8cc268ac8346be"/>
  </p:sldMasterIdLst>
  <p:notesMasterIdLst>
    <p:notesMasterId xmlns:r="http://schemas.openxmlformats.org/officeDocument/2006/relationships" r:id="R7b3a7ce7a6384bd7"/>
  </p:notesMasterIdLst>
  <p:sldIdLst>
    <p:sldId xmlns:r="http://schemas.openxmlformats.org/officeDocument/2006/relationships" id="256" r:id="R03a1888868d449a3"/>
    <p:sldId xmlns:r="http://schemas.openxmlformats.org/officeDocument/2006/relationships" id="257" r:id="R1a6d237aa58f4396"/>
    <p:sldId xmlns:r="http://schemas.openxmlformats.org/officeDocument/2006/relationships" id="258" r:id="R43d26530063b41de"/>
    <p:sldId xmlns:r="http://schemas.openxmlformats.org/officeDocument/2006/relationships" id="259" r:id="R19999728880041c6"/>
    <p:sldId xmlns:r="http://schemas.openxmlformats.org/officeDocument/2006/relationships" id="260" r:id="Ree03adf8e8274909"/>
    <p:sldId xmlns:r="http://schemas.openxmlformats.org/officeDocument/2006/relationships" id="261" r:id="R57ab57e0cb6448a6"/>
    <p:sldId xmlns:r="http://schemas.openxmlformats.org/officeDocument/2006/relationships" id="262" r:id="Ra6d57cc1fd5d425b"/>
    <p:sldId xmlns:r="http://schemas.openxmlformats.org/officeDocument/2006/relationships" id="263" r:id="R0d7c042aeb12448f"/>
    <p:sldId xmlns:r="http://schemas.openxmlformats.org/officeDocument/2006/relationships" id="264" r:id="R9e39af036ab2477f"/>
    <p:sldId xmlns:r="http://schemas.openxmlformats.org/officeDocument/2006/relationships" id="265" r:id="R27fb9daaa3394a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4321206002412d" /><Relationship Type="http://schemas.openxmlformats.org/officeDocument/2006/relationships/slideMaster" Target="/ppt/slideMasters/slideMaster1.xml" Id="Re88cc268ac8346be" /><Relationship Type="http://schemas.openxmlformats.org/officeDocument/2006/relationships/notesMaster" Target="/ppt/notesMasters/notesMaster1.xml" Id="R7b3a7ce7a6384bd7" /><Relationship Type="http://schemas.openxmlformats.org/officeDocument/2006/relationships/presProps" Target="/ppt/presProps.xml" Id="R1953b0d5800c4ab4" /><Relationship Type="http://schemas.openxmlformats.org/officeDocument/2006/relationships/tableStyles" Target="/ppt/tableStyles.xml" Id="R825f69c76d984056" /><Relationship Type="http://schemas.openxmlformats.org/officeDocument/2006/relationships/slide" Target="/ppt/slides/slide1.xml" Id="R03a1888868d449a3" /><Relationship Type="http://schemas.openxmlformats.org/officeDocument/2006/relationships/slide" Target="/ppt/slides/slide2.xml" Id="R1a6d237aa58f4396" /><Relationship Type="http://schemas.openxmlformats.org/officeDocument/2006/relationships/slide" Target="/ppt/slides/slide3.xml" Id="R43d26530063b41de" /><Relationship Type="http://schemas.openxmlformats.org/officeDocument/2006/relationships/slide" Target="/ppt/slides/slide4.xml" Id="R19999728880041c6" /><Relationship Type="http://schemas.openxmlformats.org/officeDocument/2006/relationships/slide" Target="/ppt/slides/slide5.xml" Id="Ree03adf8e8274909" /><Relationship Type="http://schemas.openxmlformats.org/officeDocument/2006/relationships/slide" Target="/ppt/slides/slide6.xml" Id="R57ab57e0cb6448a6" /><Relationship Type="http://schemas.openxmlformats.org/officeDocument/2006/relationships/slide" Target="/ppt/slides/slide7.xml" Id="Ra6d57cc1fd5d425b" /><Relationship Type="http://schemas.openxmlformats.org/officeDocument/2006/relationships/slide" Target="/ppt/slides/slide8.xml" Id="R0d7c042aeb12448f" /><Relationship Type="http://schemas.openxmlformats.org/officeDocument/2006/relationships/slide" Target="/ppt/slides/slide9.xml" Id="R9e39af036ab2477f" /><Relationship Type="http://schemas.openxmlformats.org/officeDocument/2006/relationships/slide" Target="/ppt/slides/slide10.xml" Id="R27fb9daaa3394a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a4dfc0da9546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a8cf9dffc7443c" /><Relationship Type="http://schemas.openxmlformats.org/officeDocument/2006/relationships/notesMaster" Target="/ppt/notesMasters/notesMaster1.xml" Id="Rb5bfdf25469b41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e05c1a03854810" /><Relationship Type="http://schemas.openxmlformats.org/officeDocument/2006/relationships/notesMaster" Target="/ppt/notesMasters/notesMaster1.xml" Id="R434de35c45d548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044771f3714864" /><Relationship Type="http://schemas.openxmlformats.org/officeDocument/2006/relationships/notesMaster" Target="/ppt/notesMasters/notesMaster1.xml" Id="R0e58dacaf1f144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4e0ab49ffa4911" /><Relationship Type="http://schemas.openxmlformats.org/officeDocument/2006/relationships/notesMaster" Target="/ppt/notesMasters/notesMaster1.xml" Id="R74b0e1dc440043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beb69500514020" /><Relationship Type="http://schemas.openxmlformats.org/officeDocument/2006/relationships/notesMaster" Target="/ppt/notesMasters/notesMaster1.xml" Id="R26f6c02a67454a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b9e7e765e6497f" /><Relationship Type="http://schemas.openxmlformats.org/officeDocument/2006/relationships/notesMaster" Target="/ppt/notesMasters/notesMaster1.xml" Id="Rcaee1951bf214b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d77d8e59f84100" /><Relationship Type="http://schemas.openxmlformats.org/officeDocument/2006/relationships/notesMaster" Target="/ppt/notesMasters/notesMaster1.xml" Id="Re67a41ae4d584a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3faaf9f2334249" /><Relationship Type="http://schemas.openxmlformats.org/officeDocument/2006/relationships/notesMaster" Target="/ppt/notesMasters/notesMaster1.xml" Id="R208af75608384f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e0df8c04b9476b" /><Relationship Type="http://schemas.openxmlformats.org/officeDocument/2006/relationships/notesMaster" Target="/ppt/notesMasters/notesMaster1.xml" Id="R60b6accb258948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20bfc633884083" /><Relationship Type="http://schemas.openxmlformats.org/officeDocument/2006/relationships/notesMaster" Target="/ppt/notesMasters/notesMaster1.xml" Id="Rc358fa1fc7964f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Главный продукт — наработки для регулярной аналитики: воспроизводимый анализ, общая схема событий и денег, локальные боты/импорт, дашборд, отделённый МЛ. Клиентские/канальные модели обучены и проверены только на синтетике. Это объясняет отсутствие подтвержденного результата на реальных клиентах, но не доказывает нулевой эффект. Проверки кода выполнены ранее, код в текущей редакции не меняется.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исходный CSV организатора вместо недоступного оригинального base.xlsx. Проверенный пересчёт audit/real_sales/summary.json и tables/daily.csv. 38 дней 04.08–10.09.2026. amount_rub=5904671.67, orders=628, buyers=606, bundles=153, bundle_sales_share=0.3588739761, repeat_buyers=20. Граничные дни приняты полными по ранее утвержденному допущению. Часовой пояс исходника неизвестен.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Уровни знания требуются кейсом и инструкциями к сдаче. Аналитика/вычисления: реализовано и проверено. Клиентская ML оценка и сбор: реализовано частично, демо. Измерение инкрементального эффекта: только спроектировано. Строго не смешивать неизвестный канал с нулевым рекламным эффектом.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Статусы соответствуют инвентаризации. Демонстрация с синтетическими событиями не является боевым внедрением. Общая БД v2 и самостоятельный пакет ML. Исторический CSV анализируется отдельно: связь псевдонимов исходной выгрузки с новыми Telegram ID не настроена.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Принцип идемпотентности подтверждён документацией Stripe: https://docs.stripe.com/api/idempotent_requests. У нас собственная реализация дедупликации, интеграции Stripe нет. Источник изображения: HTML-снимок настоящего интерфейса, audit/screenshots/overview.png, на синтетических данных. DOM сформирован реальными функциями приложения и данными HTTP, далее статический HTML отрисован для иллюстрации. Это не скриншот браузера. Полная визуальная проверка в браузере недоступна из-за отсутствия Chromium. Без персональных данных. Полнота производственного сбора не подтверждена.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Реальная исходная выгрузка содержит 795 строк, 606 покупателей за 38 календарных дней, не историю всех потенциальных покупателей. 5 полных недель — характеристика длины окна, не 5 независимых наблюдений. Клиентская/канальная ML отдельно обучена на синтетике. Реальная временная проверка: 6 методов; 11 перекрывающихся development-окон; holdout 04–10 сентября исключен из выбора модели. Ошибка недельной суммы = abs(forecast-actual)/actual: 38.1536601023% weekday_shrunk против 26.9598541223% mean7. Источник: data/public/metrics.json и forecast/summary.json. Слабая проверка не доказывает невозможность полезного прогноза на более длинной истории.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задач и реализованных алгоритмов: ml/README.md, ml/models/training_summary.json, docs/VERIFICATION.md. Три модели, по восемь кандидатов в проверенном запуске. Обучение/подбор/калибровка/тест хронологические, окна меток очищены от пересечений, исключаются незрелые исходы. Стандартные семейства sklearn: baseline, Logistic/Poisson, HistGradientBoosting, ExtraTrees. Преобразования не являются доказанным законом отклика. Robyn: https://facebookexperimental.github.io/Robyn/docs/features/ — adstock описывает перенос и затухание, Hill насыщение. Мы используем подход к признакам, не внедряем Robyn и не переносим чужие оценки эффективности.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строки таблицы — сценарии, не измеренная маржа бизнеса. Исторический AOV = 5904671.67/628 = 9402.34342356688. При марже 40/60/80% вклад 3760.94/5641.41/7521.87; округление для отображения до целого рубля, количество заказов рассчитано по неокругленному вкладу: 4/3/2 для15000 и80/54/40 для300000. B/(AOV*m) округляется вверх. Предполагаются постоянный средний заказ и маржа, нулевые дополнительные O и r. Для решений нужно измерять вклад относительно контроля. R_attr означает атрибутированные поступления после возвратов, C — реклама и зарегистрированные денежные затраты. Текущий показатель приложения не заявляется как прибыль. Сценарный ROMI_inc_est=(k*R_clean-C)/C не имеет исторически измеренного 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300000 рублей задано условием хакатона. Предложенные ранее лимиты 60000+90000+150000 сохраняются, механизм выделения уточнен: 90k не требует заранее положительного эффекта, а требует реализуемого и обеспеченного выборкой дизайна эксперимента;150k требует положительной экономики. Первоначально240k резерв. На пилот нужны реальные котировки, работающий учет источника и денег, согласованная экономика. Пилот не оценивает causal ROI. Контроль должен относиться к платной целевой аудитории до рекламного воздействия, не формироваться из уже пришедших. Перед каждым траншем50k проверять цену, вклад, пересечение аудиторий и текущую отдачу. При недостаточной выборке, отсутствующем контроле или неопределенном результате масштабирование не начинается. Источники: data/public/budget/summary.json, первичное условие кейса, пояснения в обновленном 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План, не проведенный эксперимент. Подход ITT: учитывать всех назначенных до воздействия, включая непокупателей. Главная метрика — маржинальный вклад за14дней до маркетинговых затрат на назначенного человека, затем сравнение дополнительного вклада с дополнительными рекламными/прочими затратами. Сверка на21день. Нормальное приближение для независимого двухвыборочного теста пропорций: p0=.02,p1=.03,alpha=.05two-sided,power=.8, allocation1:1,3826perarm=7652total. Не является размером для прибыли, кластерного теста или данных из данного CSV. План мощности прибыли рассчитывается отдельно. Внешний рекламный контроль пока недоступен; произвольные Telegram-каналы не образуют рандомизированные группы. Контроль собственной рассылки не переносится на окупаемость закупленного охвата. Industry precedent: https://www.microsoft.com/en-us/research/publication/online-experimentation-at-microsoft/ (2009), рандомизация и контроль позволяют оценивать causal effect при корректном дизайне.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5ba4b6ef7d47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f8e2d030e447cc" /><Relationship Type="http://schemas.openxmlformats.org/officeDocument/2006/relationships/slideLayout" Target="/ppt/slideLayouts/slideLayout1.xml" Id="R3e84eada9e9940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84eada9e9940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f0c5e73424cb5" /><Relationship Type="http://schemas.openxmlformats.org/officeDocument/2006/relationships/notesSlide" Target="/ppt/notesSlides/notesSlide1.xml" Id="Rcc85c68df50c4b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32b16fbe64ae9" /><Relationship Type="http://schemas.openxmlformats.org/officeDocument/2006/relationships/chart" Target="/ppt/slides/charts/chart1.xml" Id="R65852f16a3664ed5" /><Relationship Type="http://schemas.openxmlformats.org/officeDocument/2006/relationships/notesSlide" Target="/ppt/notesSlides/notesSlide2.xml" Id="Ra1bdeba045e84e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5a17ac438409f" /><Relationship Type="http://schemas.openxmlformats.org/officeDocument/2006/relationships/notesSlide" Target="/ppt/notesSlides/notesSlide3.xml" Id="R4efd6215ee0848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aa50b7f6c4fb3" /><Relationship Type="http://schemas.openxmlformats.org/officeDocument/2006/relationships/notesSlide" Target="/ppt/notesSlides/notesSlide4.xml" Id="R90b96da68a2a41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370479b6d468e" /><Relationship Type="http://schemas.openxmlformats.org/officeDocument/2006/relationships/image" Target="/ppt/media/image.png" Id="R1ba37ef2b3204e2f" /><Relationship Type="http://schemas.openxmlformats.org/officeDocument/2006/relationships/hyperlink" Target="https://docs.stripe.com/api/idempotent_requests" TargetMode="External" Id="R6b1ad9a34ea946c6" /><Relationship Type="http://schemas.openxmlformats.org/officeDocument/2006/relationships/notesSlide" Target="/ppt/notesSlides/notesSlide5.xml" Id="R097ada1e36b04c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7041db8dd4441" /><Relationship Type="http://schemas.openxmlformats.org/officeDocument/2006/relationships/chart" Target="/ppt/slides/charts/chart2.xml" Id="R767423785a174b07" /><Relationship Type="http://schemas.openxmlformats.org/officeDocument/2006/relationships/notesSlide" Target="/ppt/notesSlides/notesSlide6.xml" Id="R2c1344974de44e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c990661ee430e" /><Relationship Type="http://schemas.openxmlformats.org/officeDocument/2006/relationships/hyperlink" Target="https://facebookexperimental.github.io/Robyn/docs/features/" TargetMode="External" Id="R8d0be557db484415" /><Relationship Type="http://schemas.openxmlformats.org/officeDocument/2006/relationships/notesSlide" Target="/ppt/notesSlides/notesSlide7.xml" Id="Ra05b611528b246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7b9c7ba3841cc" /><Relationship Type="http://schemas.openxmlformats.org/officeDocument/2006/relationships/notesSlide" Target="/ppt/notesSlides/notesSlide8.xml" Id="Refb229cbf4944f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c1240ab274838" /><Relationship Type="http://schemas.openxmlformats.org/officeDocument/2006/relationships/notesSlide" Target="/ppt/notesSlides/notesSlide9.xml" Id="R969fa2ff0ba447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da17672bf4fea" /><Relationship Type="http://schemas.openxmlformats.org/officeDocument/2006/relationships/hyperlink" Target="https://www.microsoft.com/en-us/research/publication/online-experimentation-at-microsoft/" TargetMode="External" Id="R49c11c83e3ff4df6" /><Relationship Type="http://schemas.openxmlformats.org/officeDocument/2006/relationships/notesSlide" Target="/ppt/notesSlides/notesSlide10.xml" Id="R8babee70d8e642d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Сумма продаж по дням, тыс. ₽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102E36"/>
              </a:solidFill>
              <a:latin typeface="DejaVu Sans"/>
              <a:ea typeface="DejaVu Sans"/>
              <a:cs typeface="DejaVu Sans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Сумма продаж, тыс. ₽</c:v>
          </c:tx>
          <c:spPr>
            <a:ln xmlns:a="http://schemas.openxmlformats.org/drawingml/2006/main" w="28575">
              <a:solidFill>
                <a:srgbClr val="087F80"/>
              </a:solidFill>
            </a:ln>
          </c:spPr>
          <c:marker>
            <c:symbol val="none"/>
          </c:marker>
          <c:cat>
            <c:numRef>
              <c:f>'Chart Data'!$A$2:$A$39</c:f>
              <c:numCache>
                <c:formatCode>General</c:formatCode>
                <c:ptCount val="38"/>
                <c:pt idx="0">
                  <c:v>04.08</c:v>
                </c:pt>
                <c:pt idx="1">
                  <c:v>05.08</c:v>
                </c:pt>
                <c:pt idx="2">
                  <c:v>06.08</c:v>
                </c:pt>
                <c:pt idx="3">
                  <c:v>07.08</c:v>
                </c:pt>
                <c:pt idx="4">
                  <c:v>08.08</c:v>
                </c:pt>
                <c:pt idx="5">
                  <c:v>09.08</c:v>
                </c:pt>
                <c:pt idx="6">
                  <c:v>10.08</c:v>
                </c:pt>
                <c:pt idx="7">
                  <c:v>11.08</c:v>
                </c:pt>
                <c:pt idx="8">
                  <c:v>12.08</c:v>
                </c:pt>
                <c:pt idx="9">
                  <c:v>13.08</c:v>
                </c:pt>
                <c:pt idx="10">
                  <c:v>14.08</c:v>
                </c:pt>
                <c:pt idx="11">
                  <c:v>15.08</c:v>
                </c:pt>
                <c:pt idx="12">
                  <c:v>16.08</c:v>
                </c:pt>
                <c:pt idx="13">
                  <c:v>17.08</c:v>
                </c:pt>
                <c:pt idx="14">
                  <c:v>18.08</c:v>
                </c:pt>
                <c:pt idx="15">
                  <c:v>19.08</c:v>
                </c:pt>
                <c:pt idx="16">
                  <c:v>20.08</c:v>
                </c:pt>
                <c:pt idx="17">
                  <c:v>21.08</c:v>
                </c:pt>
                <c:pt idx="18">
                  <c:v>22.08</c:v>
                </c:pt>
                <c:pt idx="19">
                  <c:v>23.08</c:v>
                </c:pt>
                <c:pt idx="20">
                  <c:v>24.08</c:v>
                </c:pt>
                <c:pt idx="21">
                  <c:v>25.08</c:v>
                </c:pt>
                <c:pt idx="22">
                  <c:v>26.08</c:v>
                </c:pt>
                <c:pt idx="23">
                  <c:v>27.08</c:v>
                </c:pt>
                <c:pt idx="24">
                  <c:v>28.08</c:v>
                </c:pt>
                <c:pt idx="25">
                  <c:v>29.08</c:v>
                </c:pt>
                <c:pt idx="26">
                  <c:v>30.08</c:v>
                </c:pt>
                <c:pt idx="27">
                  <c:v>31.08</c:v>
                </c:pt>
                <c:pt idx="28">
                  <c:v>01.09</c:v>
                </c:pt>
                <c:pt idx="29">
                  <c:v>02.09</c:v>
                </c:pt>
                <c:pt idx="30">
                  <c:v>03.09</c:v>
                </c:pt>
                <c:pt idx="31">
                  <c:v>04.09</c:v>
                </c:pt>
                <c:pt idx="32">
                  <c:v>05.09</c:v>
                </c:pt>
                <c:pt idx="33">
                  <c:v>06.09</c:v>
                </c:pt>
                <c:pt idx="34">
                  <c:v>07.09</c:v>
                </c:pt>
                <c:pt idx="35">
                  <c:v>08.09</c:v>
                </c:pt>
                <c:pt idx="36">
                  <c:v>09.09</c:v>
                </c:pt>
                <c:pt idx="37">
                  <c:v>10.09</c:v>
                </c:pt>
              </c:numCache>
            </c:numRef>
          </c:cat>
          <c:val>
            <c:numRef>
              <c:f>'Chart Data'!$B$2:$B$39</c:f>
              <c:numCache>
                <c:formatCode>0</c:formatCode>
                <c:ptCount val="38"/>
                <c:pt idx="0">
                  <c:v>84.13</c:v>
                </c:pt>
                <c:pt idx="1">
                  <c:v>67.11</c:v>
                </c:pt>
                <c:pt idx="2">
                  <c:v>62.445</c:v>
                </c:pt>
                <c:pt idx="3">
                  <c:v>54.995</c:v>
                </c:pt>
                <c:pt idx="4">
                  <c:v>275.015</c:v>
                </c:pt>
                <c:pt idx="5">
                  <c:v>524.09167</c:v>
                </c:pt>
                <c:pt idx="6">
                  <c:v>205.59</c:v>
                </c:pt>
                <c:pt idx="7">
                  <c:v>96.33</c:v>
                </c:pt>
                <c:pt idx="8">
                  <c:v>114.93</c:v>
                </c:pt>
                <c:pt idx="9">
                  <c:v>72.81</c:v>
                </c:pt>
                <c:pt idx="10">
                  <c:v>76.69</c:v>
                </c:pt>
                <c:pt idx="11">
                  <c:v>48.345</c:v>
                </c:pt>
                <c:pt idx="12">
                  <c:v>43.085</c:v>
                </c:pt>
                <c:pt idx="13">
                  <c:v>33.185</c:v>
                </c:pt>
                <c:pt idx="14">
                  <c:v>61.11</c:v>
                </c:pt>
                <c:pt idx="15">
                  <c:v>56.38</c:v>
                </c:pt>
                <c:pt idx="16">
                  <c:v>52.585</c:v>
                </c:pt>
                <c:pt idx="17">
                  <c:v>28.145</c:v>
                </c:pt>
                <c:pt idx="18">
                  <c:v>251.15</c:v>
                </c:pt>
                <c:pt idx="19">
                  <c:v>394.495</c:v>
                </c:pt>
                <c:pt idx="20">
                  <c:v>184.073</c:v>
                </c:pt>
                <c:pt idx="21">
                  <c:v>141.65</c:v>
                </c:pt>
                <c:pt idx="22">
                  <c:v>84.075</c:v>
                </c:pt>
                <c:pt idx="23">
                  <c:v>137.425</c:v>
                </c:pt>
                <c:pt idx="24">
                  <c:v>60.2</c:v>
                </c:pt>
                <c:pt idx="25">
                  <c:v>95.525</c:v>
                </c:pt>
                <c:pt idx="26">
                  <c:v>176.34</c:v>
                </c:pt>
                <c:pt idx="27">
                  <c:v>206.188</c:v>
                </c:pt>
                <c:pt idx="28">
                  <c:v>226.88</c:v>
                </c:pt>
                <c:pt idx="29">
                  <c:v>217.28</c:v>
                </c:pt>
                <c:pt idx="30">
                  <c:v>180.4</c:v>
                </c:pt>
                <c:pt idx="31">
                  <c:v>269.585</c:v>
                </c:pt>
                <c:pt idx="32">
                  <c:v>484.684</c:v>
                </c:pt>
                <c:pt idx="33">
                  <c:v>396.075</c:v>
                </c:pt>
                <c:pt idx="34">
                  <c:v>173.375</c:v>
                </c:pt>
                <c:pt idx="35">
                  <c:v>64.75</c:v>
                </c:pt>
                <c:pt idx="36">
                  <c:v>193.6</c:v>
                </c:pt>
                <c:pt idx="37">
                  <c:v>9.95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6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C8DBD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Реальные продажи: ошибка недельной суммы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02E36"/>
              </a:solidFill>
              <a:latin typeface="DejaVu Sans"/>
              <a:ea typeface="DejaVu Sans"/>
              <a:cs typeface="DejaVu Sans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Ошибка недельной суммы</c:v>
          </c:tx>
          <c:spPr>
            <a:solidFill xmlns:a="http://schemas.openxmlformats.org/drawingml/2006/main">
              <a:srgbClr val="087F80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087F8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9A641A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Среднее за 7 дней</c:v>
                </c:pt>
                <c:pt idx="1">
                  <c:v>День недели со сглаживанием</c:v>
                </c:pt>
              </c:strCache>
            </c:strRef>
          </c:cat>
          <c:val>
            <c:numRef>
              <c:f>'Chart Data'!$B$2:$B$3</c:f>
              <c:numCache>
                <c:formatCode>0.00%</c:formatCode>
                <c:ptCount val="2"/>
                <c:pt idx="0">
                  <c:v>0.269599</c:v>
                </c:pt>
                <c:pt idx="1">
                  <c:v>0.381537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02E36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BD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C8DBD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E54C2C-1A41-4EC4-9ED2-AD41BF84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Поступашки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CBBAB-EB78-4E83-8499-B25B291A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BD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DC953-BC4E-42E8-9862-266B561B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Поступашки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2E762-C393-460E-BE86-8BFAFA9B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04EA8-E9F7-4B82-B1A0-FC54EB06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Основа для регулярной</a:t>
            </a:r>
          </a:p>
          <a:p xmlns:a="http://schemas.openxmlformats.org/drawingml/2006/main">
            <a:pPr>
              <a:defRPr sz="420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аналитики маркетинга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8AB7B-9B82-4723-80F9-E1998580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71825"/>
            <a:ext cx="11125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Общая база, сбор событий и дашборд.</a:t>
            </a:r>
          </a:p>
          <a:p xmlns:a="http://schemas.openxmlformats.org/drawingml/2006/main">
            <a:pPr>
              <a:defRPr sz="2250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МЛ подготовлен как отдельный модуль для будущих данных.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9041A-64F9-4EF2-AD4E-4D897421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10075"/>
            <a:ext cx="11125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Данных мало: 38 дней продаж без истории контактов.</a:t>
            </a:r>
          </a:p>
          <a:p xmlns:a="http://schemas.openxmlformats.org/drawingml/2006/main">
            <a:pPr>
              <a:defRPr sz="202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Клиентские и канальные модели проверены на синтетике.</a:t>
            </a:r>
          </a:p>
          <a:p xmlns:a="http://schemas.openxmlformats.org/drawingml/2006/main">
            <a:pPr>
              <a:defRPr sz="202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Качество на реальных клиентах и рост прибыли не подтверждены.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DF3DC-DF19-4CCB-ABC1-4A9903F7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3882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Анализ продаж: Реализовано и проверено. Боты, БД, дашборд и МЛ: Реализовано частично.</a:t>
            </a:r>
          </a:p>
        </p:txBody>
      </p:sp>
    </p:spTree>
    <p:extLst>
      <p:ext uri="{BB962C8B-B14F-4D97-AF65-F5344CB8AC3E}">
        <p14:creationId xmlns:p14="http://schemas.microsoft.com/office/powerpoint/2010/main" val="9121977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753815-E27A-420C-BECB-BCCDF7D9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Что видно в реальных продажах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0BFBE-BC2D-4DF3-98FF-DE6D88CF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Анализ исходной выгрузки: Реализовано и проверено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51A02-096B-472D-B977-04FD9B3C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BD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FD5F3D-DDA1-4B81-9439-E3E8E834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Поступашки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ADD8E-478B-4DD2-A6A1-E1401E88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1D6DA-D02A-4463-BD9A-7D3A3A01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5 904 671,67 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13996-149E-4FDA-96D4-1CED3172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9552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795 строк   628 восстановленных заказов   606 покупателей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438150" y="2876550"/>
          <a:ext xmlns:a="http://schemas.openxmlformats.org/drawingml/2006/main" cx="7239000" cy="2466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852f16a3664ed5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05E84E-FAE5-4651-97ED-6A74B397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4 августа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D13DA1-1610-4ABE-8A25-27A0131E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286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10 сентября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63EC4-5218-4BD8-B01E-07EE6346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05125"/>
            <a:ext cx="3381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153 пакета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ADD1E-5FC9-4E13-85E9-1BD8A0B8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38525"/>
            <a:ext cx="338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24,4% заказов</a:t>
            </a:r>
          </a:p>
          <a:p xmlns:a="http://schemas.openxmlformats.org/drawingml/2006/main">
            <a:pPr>
              <a:defRPr sz="18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35,9% суммы продаж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23642-8308-492D-8198-71401CBC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29125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20 повторных покупателей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F0BFCE-68C6-4428-A732-8BE7B4D2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57775"/>
            <a:ext cx="3381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3,3% покупателей в этом срезе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BEF445-1D6E-420F-BA94-BD549FF1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11125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Заказ = один студент + точное время до секунды. Пакет = несколько разных курсов в заказе.</a:t>
            </a:r>
          </a:p>
          <a:p xmlns:a="http://schemas.openxmlformats.org/drawingml/2006/main">
            <a:pPr>
              <a:defRPr sz="1575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Цены считаем фактическими долями оплаты. Первый видимый заказ не означает нового клиента.</a:t>
            </a:r>
          </a:p>
        </p:txBody>
      </p:sp>
    </p:spTree>
    <p:extLst>
      <p:ext uri="{BB962C8B-B14F-4D97-AF65-F5344CB8AC3E}">
        <p14:creationId xmlns:p14="http://schemas.microsoft.com/office/powerpoint/2010/main" val="2238655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812FA0-BE0E-495F-A03A-7B1913D7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Три уровня знания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B8B1A-3194-4EAE-9A69-272B8065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BD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A6130-12C7-40EB-AF64-7628A79A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Поступашки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F4045-7359-4E9B-8E89-186EC81F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24932-0A0B-4EF4-BFED-853CF023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Что мы знаем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B3522-8C92-452A-AA5D-CC46C3FC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3333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795 строк продаж за 38 дней. Даты, суммы, курсы и сохранённые тексты публикаций. История маркетинга неполна.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F0CD0-3096-4D5C-B224-4611B28A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24000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Что мы оцениваем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077104-5644-45AE-97DB-35EBE60B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24100"/>
            <a:ext cx="3333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Заказы и пакеты по совпадению человека и времени. Прогноз выручки. Атрибуцию и условную вероятность покупки.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89ECE-EA3C-4AE2-8925-30315D10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3467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Что пока узнать нельзя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CE6A3-22A0-4F75-84B9-F2E08E56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34671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Источник 100% исторической суммы продаж, эффект рекламы, ROMI и конверсию всей аудитории.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A3312-419C-4E84-8A89-47D0C328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BD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6CE07-D879-41E8-94D9-8675DA83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43425"/>
            <a:ext cx="347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Нужны для наблюдения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73C6F8-AC3B-49A5-A9FE-F38E8806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43425"/>
            <a:ext cx="72675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Источники и время контактов, история подписок, связка пользователя с CRM и оплатой, возвраты, фактические затраты и период полноты сбора.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67B635-CF6D-48DE-AE1F-03180417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9120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История, МЛ и сбор: Реализовано частично. Эксперимент: Только спроектировано.</a:t>
            </a:r>
          </a:p>
          <a:p xmlns:a="http://schemas.openxmlformats.org/drawingml/2006/main">
            <a:pPr>
              <a:defRPr sz="1575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Для причинного эффекта нужен контроль до рекламного воздействия.</a:t>
            </a:r>
          </a:p>
        </p:txBody>
      </p:sp>
    </p:spTree>
    <p:extLst>
      <p:ext uri="{BB962C8B-B14F-4D97-AF65-F5344CB8AC3E}">
        <p14:creationId xmlns:p14="http://schemas.microsoft.com/office/powerpoint/2010/main" val="7675441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57B062-C2ED-4FBF-96C0-1ED141CB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Одна база, отдельные роли компонентов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D03EC-B4E8-4955-95EF-3F402B05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BD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C90C6-A0AD-419F-8D23-218FB653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Поступашки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74EA5-5A98-40C6-A080-539C13B8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F93E4-F26F-4B24-ACA6-8AE628B3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14475"/>
            <a:ext cx="32575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87F8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1B27F-A2BF-40FF-932E-E66F6A57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Боты и импорт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D3F54-D8DF-4BCB-A550-3D7370E1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Updates Telegram, заявки,</a:t>
            </a:r>
          </a:p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оплаты из 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45D4F-55C7-4E17-928D-EE2F300C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A641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9A641A"/>
                </a:solidFill>
                <a:latin typeface="DejaVu Sans"/>
                <a:ea typeface="DejaVu Sans"/>
                <a:cs typeface="DejaVu Sans"/>
              </a:rPr>
              <a:t>Реализовано частично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0AF9F-3412-4906-88C0-96982FFD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514475"/>
            <a:ext cx="32575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87F8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BA9F1-D721-4AA9-8C4D-5E26B500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6573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Общая SQLite БД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31C2B8-E30E-4F64-BC14-28AE76B1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764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Факты, метки real/demo,</a:t>
            </a:r>
          </a:p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время и происхождение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56881-3090-40A5-9E89-D02881AF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00350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A641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9A641A"/>
                </a:solidFill>
                <a:latin typeface="DejaVu Sans"/>
                <a:ea typeface="DejaVu Sans"/>
                <a:cs typeface="DejaVu Sans"/>
              </a:rPr>
              <a:t>Реализовано частично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8DAB5E-0A52-4097-B5CA-F99E6C3C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14475"/>
            <a:ext cx="32575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87F8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E6220-5FA1-4946-AEE8-159E9428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573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Дашборд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F77DB-3291-4675-BA0F-4845D6CD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764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7 разделов наблюдений</a:t>
            </a:r>
          </a:p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и отдельная вкладка ML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4B473F-D87B-4C04-B7AC-3D86620D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A641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9A641A"/>
                </a:solidFill>
                <a:latin typeface="DejaVu Sans"/>
                <a:ea typeface="DejaVu Sans"/>
                <a:cs typeface="DejaVu Sans"/>
              </a:rPr>
              <a:t>Реализовано частично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FF8B65-8CFC-412D-8BD2-85CB156D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76675"/>
            <a:ext cx="32575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87F8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96B0CC-56B2-4894-887E-D33A4C01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Аналитика продаж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B4453C-B449-4AB4-AA50-533B9306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Исходная выгрузка, пакеты</a:t>
            </a:r>
          </a:p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и временной прогноз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7666D0-AE1B-47F2-BE13-EF9CB26A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Реализовано и проверено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6A67F0-FD99-4FFC-99F1-59454512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876675"/>
            <a:ext cx="32575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87F8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91B269-D74E-48F3-9E7F-9D3CC5F7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0195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МЛ-модуль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831AB5-C5BC-4CFF-810C-EE197169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4386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Признаки из общей БД.</a:t>
            </a:r>
          </a:p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Модели на синтетике.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3070B1-E511-469D-84CC-83FEB9CE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162550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A641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9A641A"/>
                </a:solidFill>
                <a:latin typeface="DejaVu Sans"/>
                <a:ea typeface="DejaVu Sans"/>
                <a:cs typeface="DejaVu Sans"/>
              </a:rPr>
              <a:t>Реализовано частично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773A00-1907-49BE-89B9-70F708F0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76675"/>
            <a:ext cx="32575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87F8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3F4156-1F8D-48ED-A084-326B50A2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195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Эксперимент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901F72-6BCC-4A42-BDA4-6B6FF3CC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Протокол проверки</a:t>
            </a:r>
          </a:p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дополнительной прибыли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C25C65-75F9-4D49-8C85-CB46DB65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62550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A641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9A641A"/>
                </a:solidFill>
                <a:latin typeface="DejaVu Sans"/>
                <a:ea typeface="DejaVu Sans"/>
                <a:cs typeface="DejaVu Sans"/>
              </a:rPr>
              <a:t>Только спроектировано</a:t>
            </a:r>
          </a:p>
        </p:txBody>
      </p:sp>
      <p:cxnSp>
        <p:nvCxnSpPr>
          <p:cNvPr id="62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90950" y="2333625"/>
            <a:ext cx="676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0"/>
            </a:solidFill>
            <a:prstDash val="solid"/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724775" y="2333625"/>
            <a:ext cx="676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0"/>
            </a:solidFill>
            <a:prstDash val="solid"/>
            <a:tailEnd type="arrow" w="med" len="med"/>
          </a:ln>
        </p:spPr>
      </p:cxnSp>
      <p:cxnSp>
        <p:nvCxnSpPr>
          <p:cNvPr id="64" name=""/>
          <p:cNvCxnSpPr>
            <a:stCxn xmlns:a="http://schemas.openxmlformats.org/drawingml/2006/main" id="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6096000" y="3152775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0"/>
            </a:solidFill>
            <a:prstDash val="solid"/>
            <a:tailEnd type="arrow" w="med" len="med"/>
          </a:ln>
        </p:spPr>
      </p:cxnSp>
      <p:cxnSp>
        <p:nvCxnSpPr>
          <p:cNvPr id="65" name=""/>
          <p:cNvCxnSpPr>
            <a:stCxn xmlns:a="http://schemas.openxmlformats.org/drawingml/2006/main" id="21" idx="3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V="1">
            <a:off x="7724775" y="3152775"/>
            <a:ext cx="2305050" cy="1543050"/>
          </a:xfrm>
          <a:prstGeom xmlns:a="http://schemas.openxmlformats.org/drawingml/2006/main" prst="bentConnector4">
            <a:avLst>
              <a:gd name="adj1" fmla="val 9917"/>
              <a:gd name="adj2" fmla="val 85185"/>
            </a:avLst>
          </a:prstGeom>
          <a:ln xmlns:a="http://schemas.openxmlformats.org/drawingml/2006/main" w="19050">
            <a:solidFill>
              <a:srgbClr val="087F80"/>
            </a:solidFill>
            <a:prstDash val="solid"/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FAF7AE-873B-4B24-9A4B-819ADC84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Сбор фиксирует факты. МЛ использует ту же базу и возвращает оценки, сохраняя факты.</a:t>
            </a:r>
          </a:p>
          <a:p xmlns:a="http://schemas.openxmlformats.org/drawingml/2006/main">
            <a:pPr>
              <a:defRPr sz="16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Исторический CSV анализируется отдельно: связь с новыми Telegram ID пока не настроена.</a:t>
            </a:r>
          </a:p>
        </p:txBody>
      </p:sp>
    </p:spTree>
    <p:extLst>
      <p:ext uri="{BB962C8B-B14F-4D97-AF65-F5344CB8AC3E}">
        <p14:creationId xmlns:p14="http://schemas.microsoft.com/office/powerpoint/2010/main" val="10507018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D24D08-8E36-4D94-AF0B-1C49E117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Дашборд и сбор данных: локальный прототип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9E102-B905-4D14-8CAD-E3123280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641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9A641A"/>
                </a:solidFill>
                <a:latin typeface="DejaVu Sans"/>
                <a:ea typeface="DejaVu Sans"/>
                <a:cs typeface="DejaVu Sans"/>
              </a:rPr>
              <a:t>База, интерфейс и боты: Реализовано частично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C9782-9446-47A7-9D1D-BA8DFEF4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BD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875E8-B7D9-4FC2-AF30-6ECF7A2B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Поступашки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72094-34B2-4998-8DD7-81A052E1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a37ef2b3204e2f"/>
          <a:stretch xmlns:a="http://schemas.openxmlformats.org/drawingml/2006/main"/>
        </p:blipFill>
        <p:spPr>
          <a:xfrm xmlns:a="http://schemas.openxmlformats.org/drawingml/2006/main">
            <a:off x="1344757" y="1647825"/>
            <a:ext cx="6054436" cy="41624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221FE-8C9B-4D8A-BBE6-06DC89D1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09725"/>
            <a:ext cx="3181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Рабочие функции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64969-26A4-41D2-B121-BFAC1210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86000"/>
            <a:ext cx="318135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Боты принимают /start, подписки, заявки и участие. JSON-импорт сохраняет заказы, оплаты и возвраты.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Дашборд пересчитывает источники, воронку, когорты и качество сбора.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Повторный ID не удваивает сумму. Ошибочный пакет откатывается.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025EA-017F-46A3-A0F0-407FA936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911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Stripe тоже защищает API от повторного выполнения.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04FDC-CE22-40C9-A5A4-A776334A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90550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087F80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6b1ad9a34ea946c6"/>
              </a:rPr>
              <a:t>Stripe: idempotent requests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77792-250C-4997-AC12-B8D78900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48350"/>
            <a:ext cx="771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HTML-снимок на синтетике. Для запуска нужны Telegram, права бота</a:t>
            </a:r>
          </a:p>
          <a:p xmlns:a="http://schemas.openxmlformats.org/drawingml/2006/main">
            <a:pPr>
              <a:def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и связь с CRM. Боевой поток и браузерная совместимость не проверены.</a:t>
            </a:r>
          </a:p>
        </p:txBody>
      </p:sp>
    </p:spTree>
    <p:extLst>
      <p:ext uri="{BB962C8B-B14F-4D97-AF65-F5344CB8AC3E}">
        <p14:creationId xmlns:p14="http://schemas.microsoft.com/office/powerpoint/2010/main" val="11401660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A3FA9-3736-467D-ACA5-88F01FF4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Почему у МЛ пока нет бизнес-результата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11E28-0998-40C3-9C2F-54D42B97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641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9A641A"/>
                </a:solidFill>
                <a:latin typeface="DejaVu Sans"/>
                <a:ea typeface="DejaVu Sans"/>
                <a:cs typeface="DejaVu Sans"/>
              </a:rPr>
              <a:t>МЛ клиентов и каналов: Реализовано частично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FBB12-1AA5-4207-AF61-D820CCD1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BD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D2D53-B1CF-4578-8122-999324CA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Поступашки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0CDC8-519D-4480-878A-6A0B7EC6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1B5BF-0876-448D-843D-842F5731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38 дней и только покупатели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FAB5D-627D-411B-AA2B-6A10618F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1112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795 строк не содержат пути к покупке и истории непокупателей. В истории чуть больше пяти недель. Обучение на синтетике проверяет процесс, но не качество на клиентах.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3276600"/>
          <a:ext xmlns:a="http://schemas.openxmlformats.org/drawingml/2006/main" cx="6743700" cy="2638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7423785a174b07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A7BC67-81CA-4C52-A3C5-5FCE2F9F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86125"/>
            <a:ext cx="39909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Реализовано и проверено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90E03-2C94-46C5-8028-43E3C167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24275"/>
            <a:ext cx="3990975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6 методов, 11 временных окон. На неделе 04–10 сентября выбранная модель проиграла простому ориентиру.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Устойчивого преимущества не показано. Причинный эффект рекламы этот прогноз не измеряет.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0B17CF-D453-443B-8DBA-886FD227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67425"/>
            <a:ext cx="1112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Для МЛ нужны история всей аудитории и контактов, зрелые исходы и проверка на новом запуске.</a:t>
            </a:r>
          </a:p>
        </p:txBody>
      </p:sp>
    </p:spTree>
    <p:extLst>
      <p:ext uri="{BB962C8B-B14F-4D97-AF65-F5344CB8AC3E}">
        <p14:creationId xmlns:p14="http://schemas.microsoft.com/office/powerpoint/2010/main" val="2252159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69B170-EC57-4923-A61B-F54B6C2A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Что подготовлено для будущей МЛ-аналитики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E6632-EAF5-4900-B122-4EA1D61C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641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9A641A"/>
                </a:solidFill>
                <a:latin typeface="DejaVu Sans"/>
                <a:ea typeface="DejaVu Sans"/>
                <a:cs typeface="DejaVu Sans"/>
              </a:rPr>
              <a:t>Обучение и проверка на синтетике: Реализовано частично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A1CB6-7E59-4B6D-81C2-67C464E3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BD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6FB33-34D8-4DDA-BF37-25963FA6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Поступашки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5F8A9-E114-45BC-AED0-D7AFC8F1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33400" y="1571625"/>
          <a:ext xmlns:a="http://schemas.openxmlformats.org/drawingml/2006/main" cx="11125200" cy="2419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14650"/>
                <a:gridCol w="8210550"/>
              </a:tblGrid>
              <a:tr h="438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Модель</a:t>
                      </a:r>
                    </a:p>
                  </a:txBody>
                  <a:tcPr marL="133350" marR="133350" marT="95250" marB="95250" anchor="ctr">
                    <a:solidFill>
                      <a:srgbClr val="102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Цель и смысл результата</a:t>
                      </a:r>
                    </a:p>
                  </a:txBody>
                  <a:tcPr marL="133350" marR="133350" marT="95250" marB="95250" anchor="ctr">
                    <a:solidFill>
                      <a:srgbClr val="102E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Покупка курса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Полная оплата за 14 дней. Сумма вероятностей даёт ожидаемых покупателей.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Приток из канала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Новые наблюдаемые люди за 7 дней после размещения.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Покупки пришедших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Покупки за 14 дней после прихода. Зрелость всего окна до 21 дня.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CC65A-638B-42CE-87E1-D91FC3C2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5257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Выбор и проверка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2DA1E-1814-40D1-A53A-E8197CF2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52578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По 8 кандидатов на задачу: простые ориентиры, регуляризованные модели, бустинг и ExtraTrees. Проверка по времени, отдельные калибровка и тест. Будущее не попадает в признаки.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998D9-2296-4389-ACBE-0E3BFC77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324350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Затухание и насыщение контактов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4B523B-C7BF-4350-B7C8-DBFF4975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10125"/>
            <a:ext cx="52863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Meta Robyn применяет adstock/Hill для задержки отклика и убывающей отдачи. Здесь эти формы помогают проверить гипотезы прогрева. Их полезность на реальных данных пока неизвестна.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3B49F-8995-4A74-B397-7FCBA58C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067425"/>
            <a:ext cx="528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087F80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8d0be557db484415"/>
              </a:rPr>
              <a:t>Meta Robyn: Key Features</a:t>
            </a:r>
          </a:p>
        </p:txBody>
      </p:sp>
    </p:spTree>
    <p:extLst>
      <p:ext uri="{BB962C8B-B14F-4D97-AF65-F5344CB8AC3E}">
        <p14:creationId xmlns:p14="http://schemas.microsoft.com/office/powerpoint/2010/main" val="5594905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119FDF-F6F7-41D6-96D0-8B61C949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Экономика рекламы и пороги окупаемости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3CB55-A647-47A1-80A5-A4D3B0F5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BD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786B7-F42B-4BB2-A38E-68BAC9BD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Поступашки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D1B0A-B7F2-4961-9364-8F94588D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DE664-EE12-48A3-A81F-1B92C2D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1125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A641A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9A641A"/>
                </a:solidFill>
                <a:latin typeface="DejaVu Sans"/>
                <a:ea typeface="DejaVu Sans"/>
                <a:cs typeface="DejaVu Sans"/>
              </a:rPr>
              <a:t>Атрибуция и расчёт: Реализовано частично. Бюджетные сценарии: Только спроектировано.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456E9-6DE7-4109-A4B2-73DAF344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287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Исторический ROMI неизвестен: нет расходов и личных касаний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980F3-C2C4-4839-A0BE-E98A3E4F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111252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В приложении ROMI_attr = (R_attr − C) / C. Это приписанные чистые поступления и учтённые расходы. Без себестоимости показатель не измеряет прибыль.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4B641-1FE0-4E4B-BB40-8E0FFFA9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9875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Критерий бюджета: ΔΠ = ΔN × g − B − O &gt;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4F2B7-327C-4809-BDC6-827053EC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766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ΔN: дополнительные заказы. g: вклад заказа после скидки, возвратов и переменных затрат.</a:t>
            </a:r>
          </a:p>
          <a:p xmlns:a="http://schemas.openxmlformats.org/drawingml/2006/main">
            <a:pPr>
              <a:defRPr sz="1650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B: реклама. O: прочие дополнительные расходы. Исторический средний заказ: 9 402,34 ₽.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33400" y="3876675"/>
          <a:ext xmlns:a="http://schemas.openxmlformats.org/drawingml/2006/main" cx="11125200" cy="1752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48000"/>
                <a:gridCol w="2362200"/>
                <a:gridCol w="2857500"/>
                <a:gridCol w="2857500"/>
              </a:tblGrid>
              <a:tr h="4381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Маржа (допущение)</a:t>
                      </a:r>
                    </a:p>
                  </a:txBody>
                  <a:tcPr marL="133350" marR="133350" marT="95250" marB="95250" anchor="ctr">
                    <a:solidFill>
                      <a:srgbClr val="102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Вклад с заказа</a:t>
                      </a:r>
                    </a:p>
                  </a:txBody>
                  <a:tcPr marL="133350" marR="133350" marT="95250" marB="95250" anchor="ctr">
                    <a:solidFill>
                      <a:srgbClr val="102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Заказы / 15 000 ₽</a:t>
                      </a:r>
                    </a:p>
                  </a:txBody>
                  <a:tcPr marL="133350" marR="133350" marT="95250" marB="95250" anchor="ctr">
                    <a:solidFill>
                      <a:srgbClr val="102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Заказы / 300 000 ₽</a:t>
                      </a:r>
                    </a:p>
                  </a:txBody>
                  <a:tcPr marL="133350" marR="133350" marT="95250" marB="95250" anchor="ctr">
                    <a:solidFill>
                      <a:srgbClr val="102E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40%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3 761 ₽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60%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5 641 ₽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54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80%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7 522 ₽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AA2D0C-E00C-49F5-887D-91B18593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150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Маржа — допущение. O = 0, целевая доходность 0%. Счёт: только дополнительные заказы.</a:t>
            </a:r>
          </a:p>
          <a:p xmlns:a="http://schemas.openxmlformats.org/drawingml/2006/main">
            <a:pPr>
              <a:defRPr sz="1425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Средний заказ будущего запуска нужно подтвердить. Скидка уже учтена в цене.</a:t>
            </a:r>
          </a:p>
        </p:txBody>
      </p:sp>
    </p:spTree>
    <p:extLst>
      <p:ext uri="{BB962C8B-B14F-4D97-AF65-F5344CB8AC3E}">
        <p14:creationId xmlns:p14="http://schemas.microsoft.com/office/powerpoint/2010/main" val="11394636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92515-AD6F-4230-9F3F-880209B0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Решение по бюджету 300 000 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E037C-1322-4EB7-8BBF-789448A4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641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9A641A"/>
                </a:solidFill>
                <a:latin typeface="DejaVu Sans"/>
                <a:ea typeface="DejaVu Sans"/>
                <a:cs typeface="DejaVu Sans"/>
              </a:rPr>
              <a:t>Лимиты и условия расходования: Только спроектировано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6FF09-4E6E-484B-A1AF-5DBB5926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BD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C760F-DDA5-4D26-93CE-6AD7B867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Поступашки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5511D-EF83-4F27-B523-758AF0B9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1552575"/>
          <a:ext xmlns:a="http://schemas.openxmlformats.org/drawingml/2006/main" cx="11125200" cy="27051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48000"/>
                <a:gridCol w="3667125"/>
                <a:gridCol w="4410075"/>
              </a:tblGrid>
              <a:tr h="438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Этап и лимит</a:t>
                      </a:r>
                    </a:p>
                  </a:txBody>
                  <a:tcPr marL="133350" marR="133350" marT="95250" marB="95250" anchor="ctr">
                    <a:solidFill>
                      <a:srgbClr val="102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На что расходуем</a:t>
                      </a:r>
                    </a:p>
                  </a:txBody>
                  <a:tcPr marL="133350" marR="133350" marT="95250" marB="95250" anchor="ctr">
                    <a:solidFill>
                      <a:srgbClr val="102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Когда выделяем деньги</a:t>
                      </a:r>
                    </a:p>
                  </a:txBody>
                  <a:tcPr marL="133350" marR="133350" marT="95250" marB="95250" anchor="ctr">
                    <a:solidFill>
                      <a:srgbClr val="102E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Пилот</a:t>
                      </a:r>
                    </a:p>
                    <a:p>
                      <a:r>
                        <a:rPr sz="1650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60 000 ₽ / 20%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 4 источников,</a:t>
                      </a:r>
                    </a:p>
                    <a:p>
                      <a:r>
                        <a:rPr sz="1650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 15 000 ₽ на источник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Есть реальные цены и проверенная связь источника с оплатой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Подтверждение</a:t>
                      </a:r>
                    </a:p>
                    <a:p>
                      <a:r>
                        <a:rPr sz="1650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90 000 ₽ / 30%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Одна гипотеза,</a:t>
                      </a:r>
                    </a:p>
                    <a:p>
                      <a:r>
                        <a:rPr sz="1650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новая выборка с контролем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Есть контроль до воздействия</a:t>
                      </a:r>
                    </a:p>
                    <a:p>
                      <a:r>
                        <a:rPr sz="1650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 достаточная выборка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Масштабирование</a:t>
                      </a:r>
                    </a:p>
                    <a:p>
                      <a:r>
                        <a:rPr sz="1650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150 000 ₽ / 50%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 3 траншей</a:t>
                      </a:r>
                    </a:p>
                    <a:p>
                      <a:r>
                        <a:rPr sz="1650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 50 000 ₽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Нижняя граница 95%-го интервала</a:t>
                      </a:r>
                    </a:p>
                    <a:p>
                      <a:r>
                        <a:rPr sz="1650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дополнительного вклада</a:t>
                      </a:r>
                    </a:p>
                    <a:p>
                      <a:r>
                        <a:rPr sz="1650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покрывает затраты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0BF1E-A730-4CEE-9A1B-35EFC2DF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8152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Сравнение каналов после пилота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6474A-FED8-4E9F-8FBA-3FD64A90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6730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При одинаковом оффере и зрелых окнах сравниваем новых людей, оплаты, возвраты, вклад и покрытие источником. Пилот выбирает кандидата для отдельной проверки.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DCABD-2A34-419A-B659-9866C126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692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Резерв 240 000 ₽: 90 000 ₽ на пригодный эксперимент, 150 000 ₽ после подтверждения экономики.</a:t>
            </a:r>
          </a:p>
          <a:p xmlns:a="http://schemas.openxmlformats.org/drawingml/2006/main">
            <a:pPr>
              <a:defRPr sz="1425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Сломанный учёт останавливает закупку. Лимиты требуют реальных цен и повторной оценки перед траншами.</a:t>
            </a:r>
          </a:p>
        </p:txBody>
      </p:sp>
    </p:spTree>
    <p:extLst>
      <p:ext uri="{BB962C8B-B14F-4D97-AF65-F5344CB8AC3E}">
        <p14:creationId xmlns:p14="http://schemas.microsoft.com/office/powerpoint/2010/main" val="7858750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BF180-E2B6-49D0-8340-740D756B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Какие реальные данные изменят 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CD190-79E0-4923-81FA-25055648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641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9A641A"/>
                </a:solidFill>
                <a:latin typeface="DejaVu Sans"/>
                <a:ea typeface="DejaVu Sans"/>
                <a:cs typeface="DejaVu Sans"/>
              </a:rPr>
              <a:t>Эксперимент и гипотезы: Только спроектировано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28090-9E46-4C3C-B61D-E339763F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BD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ECA91-F224-4BF6-8FC1-296E3A57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Поступашки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61967-BF4D-432C-A3DC-10783AC4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C5A3D-C9F0-4552-AFE9-D65C98E5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Контроль до рекламного воздействия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A8C2C-BC58-43EB-BA51-039CCECE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6477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Одна гипотеза на новой выборке. Вклад за 14 дней считаем на каждого назначенного человека, включая непокупателей. Сверка на 21-й день.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673AF-C4DF-4671-8B6A-A43C9F0A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571625"/>
            <a:ext cx="3933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≈7 652 участника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FEB52-D8E5-4025-95BB-014E30FC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019300"/>
            <a:ext cx="393382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Пример: конверсия с 2% до 3%,</a:t>
            </a:r>
          </a:p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α = 5%, мощность 80%, 1:1.</a:t>
            </a:r>
          </a:p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Для прибыли размер считается</a:t>
            </a:r>
          </a:p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отдельно. Аудитория неизвестна.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533400" y="3048000"/>
          <a:ext xmlns:a="http://schemas.openxmlformats.org/drawingml/2006/main" cx="11125200" cy="2209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962525"/>
                <a:gridCol w="6162675"/>
              </a:tblGrid>
              <a:tr h="4381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Гипотеза</a:t>
                      </a:r>
                    </a:p>
                  </a:txBody>
                  <a:tcPr marL="133350" marR="133350" marT="76200" marB="76200" anchor="ctr">
                    <a:solidFill>
                      <a:srgbClr val="102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Что логировать и сравнивать</a:t>
                      </a:r>
                    </a:p>
                  </a:txBody>
                  <a:tcPr marL="133350" marR="133350" marT="76200" marB="76200" anchor="ctr">
                    <a:solidFill>
                      <a:srgbClr val="102E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Прогрев и скидка повышают вклад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Назначенный вариант до контакта, доставка,</a:t>
                      </a:r>
                    </a:p>
                    <a:p>
                      <a:r>
                        <a:rPr sz="157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вклад после возвратов и переменных затрат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Повторы исчерпывают рекламный канал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Новые люди и покупки по размещению,</a:t>
                      </a:r>
                    </a:p>
                    <a:p>
                      <a:r>
                        <a:rPr sz="157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цены и наблюдаемые пересечения аудиторий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Спрос связан со стажировками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Календарь наборов, акции и цены</a:t>
                      </a:r>
                    </a:p>
                    <a:p>
                      <a:r>
                        <a:rPr sz="157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 несколько сезонов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D9675-9206-469D-A670-736DE492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0547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Microsoft ExP использует рандомизацию для оценки причинного эффекта. Здесь это принцип будущего теста.</a:t>
            </a:r>
          </a:p>
          <a:p xmlns:a="http://schemas.openxmlformats.org/drawingml/2006/main">
            <a:pPr>
              <a:def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Контроль внешней рекламы пока недоступен. Тест своей рассылки измеряет только её собственный эффект.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E4A269-2B89-4AC8-9F28-E8E95D57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10001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087F80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49c11c83e3ff4df6"/>
              </a:rPr>
              <a:t>Microsoft Research: Online Experimentation at Microsoft</a:t>
            </a:r>
          </a:p>
        </p:txBody>
      </p:sp>
    </p:spTree>
    <p:extLst>
      <p:ext uri="{BB962C8B-B14F-4D97-AF65-F5344CB8AC3E}">
        <p14:creationId xmlns:p14="http://schemas.microsoft.com/office/powerpoint/2010/main" val="13814839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2026-09-12T19:54:50.7880000Z</dcterms:created>
  <dcterms:modified xsi:type="dcterms:W3CDTF">2026-09-12T19:54:50.7880000Z</dcterms:modified>
</coreProperties>
</file>